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d56d902bb24708" /><Relationship Type="http://schemas.openxmlformats.org/officeDocument/2006/relationships/extended-properties" Target="/docProps/app.xml" Id="Re1766dfac2184086" /><Relationship Type="http://schemas.openxmlformats.org/officeDocument/2006/relationships/officeDocument" Target="/ppt/presentation.xml" Id="R62fb01f0775a4a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bbfb2fb68041d0"/>
  </p:sldMasterIdLst>
  <p:notesMasterIdLst>
    <p:notesMasterId xmlns:r="http://schemas.openxmlformats.org/officeDocument/2006/relationships" r:id="R1edd354fe5744471"/>
  </p:notesMasterIdLst>
  <p:sldIdLst>
    <p:sldId xmlns:r="http://schemas.openxmlformats.org/officeDocument/2006/relationships" id="256" r:id="Ra50a7c5b383f49ad"/>
    <p:sldId xmlns:r="http://schemas.openxmlformats.org/officeDocument/2006/relationships" id="257" r:id="R34fb606e219b4228"/>
    <p:sldId xmlns:r="http://schemas.openxmlformats.org/officeDocument/2006/relationships" id="258" r:id="R06890bd7c9cc4e32"/>
    <p:sldId xmlns:r="http://schemas.openxmlformats.org/officeDocument/2006/relationships" id="259" r:id="R8027e23067244c8d"/>
    <p:sldId xmlns:r="http://schemas.openxmlformats.org/officeDocument/2006/relationships" id="260" r:id="Rc95fc0d5651e430d"/>
    <p:sldId xmlns:r="http://schemas.openxmlformats.org/officeDocument/2006/relationships" id="261" r:id="R87d8ddd6b4fa4bf7"/>
    <p:sldId xmlns:r="http://schemas.openxmlformats.org/officeDocument/2006/relationships" id="262" r:id="R51fdc1b3743e42c3"/>
    <p:sldId xmlns:r="http://schemas.openxmlformats.org/officeDocument/2006/relationships" id="263" r:id="R743026d2d097419d"/>
    <p:sldId xmlns:r="http://schemas.openxmlformats.org/officeDocument/2006/relationships" id="264" r:id="R2639324faee34f8e"/>
    <p:sldId xmlns:r="http://schemas.openxmlformats.org/officeDocument/2006/relationships" id="265" r:id="Ra9738d47b9e4405f"/>
    <p:sldId xmlns:r="http://schemas.openxmlformats.org/officeDocument/2006/relationships" id="266" r:id="Rf35d46a9e9674881"/>
    <p:sldId xmlns:r="http://schemas.openxmlformats.org/officeDocument/2006/relationships" id="267" r:id="R81dcb7e1f09d40e1"/>
    <p:sldId xmlns:r="http://schemas.openxmlformats.org/officeDocument/2006/relationships" id="268" r:id="Re0db9f8bddca4151"/>
    <p:sldId xmlns:r="http://schemas.openxmlformats.org/officeDocument/2006/relationships" id="269" r:id="R154341c05de1482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bbfb2fb68041d0" /><Relationship Type="http://schemas.openxmlformats.org/officeDocument/2006/relationships/theme" Target="/ppt/theme/theme1.xml" Id="R44bde16cf46449fe" /><Relationship Type="http://schemas.openxmlformats.org/officeDocument/2006/relationships/notesMaster" Target="/ppt/notesMasters/notesMaster1.xml" Id="R1edd354fe5744471" /><Relationship Type="http://schemas.openxmlformats.org/officeDocument/2006/relationships/presProps" Target="/ppt/presProps.xml" Id="Rebd7c518991a4d2b" /><Relationship Type="http://schemas.openxmlformats.org/officeDocument/2006/relationships/viewProps" Target="/ppt/viewProps.xml" Id="R477b6ecf62eb4dce" /><Relationship Type="http://schemas.openxmlformats.org/officeDocument/2006/relationships/tableStyles" Target="/ppt/tableStyles.xml" Id="R7d1dc8a08efd4900" /><Relationship Type="http://schemas.openxmlformats.org/officeDocument/2006/relationships/slide" Target="/ppt/slides/slide1.xml" Id="Ra50a7c5b383f49ad" /><Relationship Type="http://schemas.openxmlformats.org/officeDocument/2006/relationships/slide" Target="/ppt/slides/slide2.xml" Id="R34fb606e219b4228" /><Relationship Type="http://schemas.openxmlformats.org/officeDocument/2006/relationships/slide" Target="/ppt/slides/slide3.xml" Id="R06890bd7c9cc4e32" /><Relationship Type="http://schemas.openxmlformats.org/officeDocument/2006/relationships/slide" Target="/ppt/slides/slide4.xml" Id="R8027e23067244c8d" /><Relationship Type="http://schemas.openxmlformats.org/officeDocument/2006/relationships/slide" Target="/ppt/slides/slide5.xml" Id="Rc95fc0d5651e430d" /><Relationship Type="http://schemas.openxmlformats.org/officeDocument/2006/relationships/slide" Target="/ppt/slides/slide6.xml" Id="R87d8ddd6b4fa4bf7" /><Relationship Type="http://schemas.openxmlformats.org/officeDocument/2006/relationships/slide" Target="/ppt/slides/slide7.xml" Id="R51fdc1b3743e42c3" /><Relationship Type="http://schemas.openxmlformats.org/officeDocument/2006/relationships/slide" Target="/ppt/slides/slide8.xml" Id="R743026d2d097419d" /><Relationship Type="http://schemas.openxmlformats.org/officeDocument/2006/relationships/slide" Target="/ppt/slides/slide9.xml" Id="R2639324faee34f8e" /><Relationship Type="http://schemas.openxmlformats.org/officeDocument/2006/relationships/slide" Target="/ppt/slides/slide10.xml" Id="Ra9738d47b9e4405f" /><Relationship Type="http://schemas.openxmlformats.org/officeDocument/2006/relationships/slide" Target="/ppt/slides/slide11.xml" Id="Rf35d46a9e9674881" /><Relationship Type="http://schemas.openxmlformats.org/officeDocument/2006/relationships/slide" Target="/ppt/slides/slide12.xml" Id="R81dcb7e1f09d40e1" /><Relationship Type="http://schemas.openxmlformats.org/officeDocument/2006/relationships/slide" Target="/ppt/slides/slide13.xml" Id="Re0db9f8bddca4151" /><Relationship Type="http://schemas.openxmlformats.org/officeDocument/2006/relationships/slide" Target="/ppt/slides/slide14.xml" Id="R154341c05de148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1a90c2f1d0248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21b3813daf4c2a" /><Relationship Type="http://schemas.openxmlformats.org/officeDocument/2006/relationships/notesMaster" Target="/ppt/notesMasters/notesMaster1.xml" Id="Rc48d9fc9748e4d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dd01a942a94355" /><Relationship Type="http://schemas.openxmlformats.org/officeDocument/2006/relationships/notesMaster" Target="/ppt/notesMasters/notesMaster1.xml" Id="Reecb32c3f0e543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411e97454c43ef" /><Relationship Type="http://schemas.openxmlformats.org/officeDocument/2006/relationships/notesMaster" Target="/ppt/notesMasters/notesMaster1.xml" Id="R77ff79b1229f45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7f915a70574e00" /><Relationship Type="http://schemas.openxmlformats.org/officeDocument/2006/relationships/notesMaster" Target="/ppt/notesMasters/notesMaster1.xml" Id="R452ad9251a9a4a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d601329b4649c7" /><Relationship Type="http://schemas.openxmlformats.org/officeDocument/2006/relationships/notesMaster" Target="/ppt/notesMasters/notesMaster1.xml" Id="R9f76b171f8d64e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0a596930f64fbc" /><Relationship Type="http://schemas.openxmlformats.org/officeDocument/2006/relationships/notesMaster" Target="/ppt/notesMasters/notesMaster1.xml" Id="Rb1cd8e14598f4d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39acac5c084ca1" /><Relationship Type="http://schemas.openxmlformats.org/officeDocument/2006/relationships/notesMaster" Target="/ppt/notesMasters/notesMaster1.xml" Id="Ra4465f2badfa409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ffeba936654bee" /><Relationship Type="http://schemas.openxmlformats.org/officeDocument/2006/relationships/notesMaster" Target="/ppt/notesMasters/notesMaster1.xml" Id="R891023cc32a04d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8e00576f0a4253" /><Relationship Type="http://schemas.openxmlformats.org/officeDocument/2006/relationships/notesMaster" Target="/ppt/notesMasters/notesMaster1.xml" Id="Rc0a6fae8219a4e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4847cd31304473" /><Relationship Type="http://schemas.openxmlformats.org/officeDocument/2006/relationships/notesMaster" Target="/ppt/notesMasters/notesMaster1.xml" Id="R6576296077ee4c9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69e4b41d3149ed" /><Relationship Type="http://schemas.openxmlformats.org/officeDocument/2006/relationships/notesMaster" Target="/ppt/notesMasters/notesMaster1.xml" Id="R8d56c2b9b865419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c99c4496b64360" /><Relationship Type="http://schemas.openxmlformats.org/officeDocument/2006/relationships/notesMaster" Target="/ppt/notesMasters/notesMaster1.xml" Id="R1fad9520473b4c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46a9a2931694adc" /><Relationship Type="http://schemas.openxmlformats.org/officeDocument/2006/relationships/notesMaster" Target="/ppt/notesMasters/notesMaster1.xml" Id="R848b756a98eb46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188cd3456414892" /><Relationship Type="http://schemas.openxmlformats.org/officeDocument/2006/relationships/notesMaster" Target="/ppt/notesMasters/notesMaster1.xml" Id="Rdc177f2ce7fc47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ebcc83f8244dc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ec5859f38b4493f" /><Relationship Type="http://schemas.openxmlformats.org/officeDocument/2006/relationships/slideLayout" Target="/ppt/slideLayouts/slideLayout2.xml" Id="Rdc9d5697a07243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9d5697a07243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81d0168c094dbf" /><Relationship Type="http://schemas.openxmlformats.org/officeDocument/2006/relationships/notesSlide" Target="/ppt/notesSlides/notesSlide1.xml" Id="R50a76c949dea4b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366285e5ce457f" /><Relationship Type="http://schemas.openxmlformats.org/officeDocument/2006/relationships/notesSlide" Target="/ppt/notesSlides/notesSlide2.xml" Id="R505feb73638a428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63469f66a34092" /><Relationship Type="http://schemas.openxmlformats.org/officeDocument/2006/relationships/notesSlide" Target="/ppt/notesSlides/notesSlide3.xml" Id="R64d351fe7fd44f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82283ad14e4f64" /><Relationship Type="http://schemas.openxmlformats.org/officeDocument/2006/relationships/notesSlide" Target="/ppt/notesSlides/notesSlide4.xml" Id="R747381a4716c42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cf6e949e0c4510" /><Relationship Type="http://schemas.openxmlformats.org/officeDocument/2006/relationships/notesSlide" Target="/ppt/notesSlides/notesSlide5.xml" Id="R2b3b92b57fe145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d81b0f1f034f92" /><Relationship Type="http://schemas.openxmlformats.org/officeDocument/2006/relationships/notesSlide" Target="/ppt/notesSlides/notesSlide6.xml" Id="Re7793440c5cf4e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990caa0e9c461f" /><Relationship Type="http://schemas.openxmlformats.org/officeDocument/2006/relationships/notesSlide" Target="/ppt/notesSlides/notesSlide7.xml" Id="Ree8a0a487a7341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1d3366ae5b43e4" /><Relationship Type="http://schemas.openxmlformats.org/officeDocument/2006/relationships/notesSlide" Target="/ppt/notesSlides/notesSlide8.xml" Id="R98d756524ddf403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0f6e4f797146bd" /><Relationship Type="http://schemas.openxmlformats.org/officeDocument/2006/relationships/notesSlide" Target="/ppt/notesSlides/notesSlide9.xml" Id="R3c98e99041584f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70dde4f5ba4010" /><Relationship Type="http://schemas.openxmlformats.org/officeDocument/2006/relationships/notesSlide" Target="/ppt/notesSlides/notesSlide10.xml" Id="R257178030e7247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ff8b3f7a87404a" /><Relationship Type="http://schemas.openxmlformats.org/officeDocument/2006/relationships/notesSlide" Target="/ppt/notesSlides/notesSlide11.xml" Id="Rb0d598d5f72948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6b27d2611a4081" /><Relationship Type="http://schemas.openxmlformats.org/officeDocument/2006/relationships/notesSlide" Target="/ppt/notesSlides/notesSlide12.xml" Id="Re6dfd4aa6308445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c8da1cdaae4704" /><Relationship Type="http://schemas.openxmlformats.org/officeDocument/2006/relationships/notesSlide" Target="/ppt/notesSlides/notesSlide13.xml" Id="R296937b9e0ea4c9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532641be894617" /><Relationship Type="http://schemas.openxmlformats.org/officeDocument/2006/relationships/notesSlide" Target="/ppt/notesSlides/notesSlide14.xml" Id="R4108b69cb9ab49a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54AAF0-3232-4D1A-A12D-17E0A6E9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38A93-16A7-4272-B8C9-A9D5B4B4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3CD2E1-D74C-48D6-A303-2541C2C5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476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B8A7"/>
          </a:solidFill>
          <a:ln xmlns:a="http://schemas.openxmlformats.org/drawingml/2006/main" w="0">
            <a:solidFill>
              <a:srgbClr val="13B8A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FD0E45-1F18-4B69-A0DC-84CF0F11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857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A95E2-4A3D-4928-BEA7-F2B70674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5775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7F3D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7F3D0"/>
                </a:solidFill>
                <a:latin typeface="Aptos"/>
                <a:ea typeface="Aptos"/>
                <a:cs typeface="Aptos"/>
              </a:rPr>
              <a:t>DEMO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3DE9FE-6278-450F-9D49-E310A9DDC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85900"/>
            <a:ext cx="8096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AI-Powered On-Chain Agent Protocol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4BD41-4EBC-4FE9-B697-4DF098C8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723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4DCE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4DCE8"/>
                </a:solidFill>
                <a:latin typeface="Aptos"/>
                <a:ea typeface="Aptos"/>
                <a:cs typeface="Aptos"/>
              </a:rPr>
              <a:t>A working intent execution network for AI agents: natural-language intents, smart-account authorization, asynchronous job execution, batching, and live performance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31A2B-9B1C-4705-A009-9E99F727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76750"/>
            <a:ext cx="17907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741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F4309-E2D9-460C-933F-335DA689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rPr>
              <a:t>55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E2BE4-EAA7-4490-BC64-39814879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backend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F0ECEC-A50C-47AD-8116-4EECC654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9D3E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C9D3E1"/>
                </a:solidFill>
                <a:latin typeface="Aptos"/>
                <a:ea typeface="Aptos"/>
                <a:cs typeface="Aptos"/>
              </a:rPr>
              <a:t>Node test suite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353A92-E547-4315-8E4F-71589F8F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476750"/>
            <a:ext cx="17907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7415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125688-8EC8-44C0-BAE9-BBE1E93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101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27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41B6FB-86C9-4751-B7BB-A45CAE28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0062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contract tests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959EC0-79AB-4D3B-B496-0007C9EE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25780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9D3E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C9D3E1"/>
                </a:solidFill>
                <a:latin typeface="Aptos"/>
                <a:ea typeface="Aptos"/>
                <a:cs typeface="Aptos"/>
              </a:rPr>
              <a:t>Foundry suite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2F0601-693F-4320-B48A-F474DD73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76750"/>
            <a:ext cx="17907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741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41096E-119E-49CA-96F6-DAF2FE4C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6101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rPr>
              <a:t>-80%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4D2B64-AC3E-494C-8D4E-E023D84F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0062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tx count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FE23FF-8DB8-4300-A554-BC54A944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9D3E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C9D3E1"/>
                </a:solidFill>
                <a:latin typeface="Aptos"/>
                <a:ea typeface="Aptos"/>
                <a:cs typeface="Aptos"/>
              </a:rPr>
              <a:t>40 intents -&gt; 8 tx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5A4E10-D8B4-46A7-A90B-0F817183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76750"/>
            <a:ext cx="17907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7415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761BBC-8708-4A20-95C0-F024FB1B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101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33.01%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09579F-FD76-476B-90C0-7EA5FD4D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 gas cut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D64338-3035-42A6-ABC5-C306F076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25780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9D3E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C9D3E1"/>
                </a:solidFill>
                <a:latin typeface="Aptos"/>
                <a:ea typeface="Aptos"/>
                <a:cs typeface="Aptos"/>
              </a:rPr>
              <a:t>5 intents benchmark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7AB972-BBB0-4705-8D09-B5C5C8B9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876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0C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6C0CE"/>
                </a:solidFill>
                <a:latin typeface="Aptos"/>
                <a:ea typeface="Aptos"/>
                <a:cs typeface="Aptos"/>
              </a:rPr>
              <a:t>Current implementation boundary: coordinator jobs can use Supabase/Postgres as primary storage; intents and batches are mirrored to Supabase for history.</a:t>
            </a:r>
          </a:p>
        </p:txBody>
      </p:sp>
    </p:spTree>
    <p:extLst>
      <p:ext uri="{BB962C8B-B14F-4D97-AF65-F5344CB8AC3E}">
        <p14:creationId xmlns:p14="http://schemas.microsoft.com/office/powerpoint/2010/main" val="7135486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B8A807-9287-486F-86CB-9530B78B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E1BBC6-0175-4299-BCFA-6210683F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222E93-20D7-4F37-94EE-FCE348FD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RUBRIC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403A48-5FF6-4959-A13C-97F4A8AC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implementation maps directly to the project requirements.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50131-2CD0-4104-9CE8-E232835E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F24A4E-E63C-4C8E-9A80-6E4547E5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F6B74-299E-4448-8393-A697BC5B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0C75B-D0C7-48C3-806A-215D6EFF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2501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Requirement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23509-5FAC-4B76-9DE1-10B9F745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1924050"/>
            <a:ext cx="2501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D35297-9B19-4C11-BC83-B6F30CF9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1924050"/>
            <a:ext cx="2501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2A400A-B308-45E4-BF38-B832D0DA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DED78-5687-483C-B9DE-FE313AC3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5270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 protocol layer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A34D87-8735-403C-834B-D0A1EBEA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255270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AgentRegistry, IntentManager, AgentSmartAccount, SignedIntentEscrow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AF354D-E87B-4249-8F55-24FE0B94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255270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Implemented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3E85A-2292-4129-B2ED-C1B5A3B1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D48BA-6786-4DBB-9895-C1247D46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Intent submission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AD660D-B056-4E6C-AFD9-D3906828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321945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 parser, templates, wallet transaction builders, scheduled workflow 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E84C33-F9CE-417C-BD82-ECF21CDF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321945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Implemented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395B9-F99F-475A-AB1F-1A325014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355EB0-D0C2-46EA-9C23-C33618C5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Batching / aggregation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65122E-D398-494C-9BE9-EA485EDA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388620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Smart-account batches, EIP-712 scheduled batches, ETH/USDC matching planner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DF4DDA-7196-4672-889D-1D835C54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388620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Implemented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409777-3924-4A66-B1A1-55387021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7675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A9818F-D380-47B7-80CC-C59749B9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5295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Async coordinator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69FC01-42B5-450A-88E0-280625E0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455295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Due job scan, retry, receipt tracking, Supabase SKIP LOCKED claim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09FF56-AE63-4CF8-B921-7D6DBE4C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455295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Implemented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F5AFE0-2671-4894-B037-7617ECC0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D724AD-4224-4D09-B22E-FEE49CAA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Performance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A1ED09-E475-467B-9EEF-84F287F0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521970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Dashboard metrics, benchmark JSON, 55 backend tests, 27 contract tests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5C60EB-83EA-4D30-BB61-AC14FDC7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5219700"/>
            <a:ext cx="250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Implemented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9BA3AB-41E8-494E-8B14-271A7B8B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97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Demo framing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3244CA-CB01-4612-BD81-CD3E7BD8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689A7E-E501-473A-9F4E-8A692AC4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57425"/>
            <a:ext cx="1809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Show product flow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1CBED9-661E-4C2F-BB44-B7FE201D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6"/>
          </a:solidFill>
          <a:ln xmlns:a="http://schemas.openxmlformats.org/drawingml/2006/main" w="9525">
            <a:solidFill>
              <a:srgbClr val="13B8A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5CEB91-1E01-45F9-B95F-D935E48F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38425"/>
            <a:ext cx="1809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Prove backend logic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BE4F4D-CE3D-4B43-97EF-E57E6CC7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527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296DD3-AD10-488D-8F98-B21A76C6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19425"/>
            <a:ext cx="1809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Show contract controls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ECA8CA-12FE-402A-B603-B2622B3B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7EE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0061BF-B522-4600-98F6-9A8EA668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00425"/>
            <a:ext cx="1809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Close with metrics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E48353-EDB8-42B2-8C6C-FA6AA6C5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525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deck describes what exists now. Planned upgrades are treated as boundaries, not as delivered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5002731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0BAB00-A477-4F54-9C24-EDF90C98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D8776-93C0-4A0D-8176-4EB6E470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062D61-0563-447F-A0EF-13353913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CURRENT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708383-40B6-4FD8-8813-5FBF25AD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Proposal, authorization, execution, and observability are separated.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26160-C26F-44AA-8821-E106E561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C2EDC-D903-4840-B478-1E3A6006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15D48-8241-450E-9A2C-9DBE49AE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095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979E7-64D7-473E-961A-ADEA4E79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71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0EEBBE-E972-40F1-9FD0-1FF3CC83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UI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7123CD-1DD3-418E-B77D-09DD1381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Frontend console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B69251-923A-488F-A3D0-EF5FB501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1409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Wallet connect, AI chat, templates, history, dashboard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B61ACD-DFA6-42E6-A82E-8FAFFFB6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A4D7A-D506-441D-A0E0-F111A0DC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52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72736D-BB59-455E-8A7A-30AB584A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EOA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6CE553-5261-44A9-B656-15DFDB35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718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Wallet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7B6A0C-360F-44B8-8B71-94947BB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1409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EOA signatures or owner authorization for Agent Wallet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2171B4-170F-4A75-9E68-D3243942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943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6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325E79-BD45-4953-AF3C-AD1E55BF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57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BBA4AA-AE7C-4E4F-AE60-DD4316A1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336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0156F5-1F56-4C20-B252-B3BEF6AE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7645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parser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A30723-74D4-4072-B9F8-D7DF38EF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24100"/>
            <a:ext cx="1504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DeepSeek/OpenAI-compatible parsing into validated intents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8D22BD-37D3-460D-807E-A8EB10E1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9146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D070A9-CBED-40AF-A1ED-07C0A2DC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28295A-3506-4629-8290-8F43410C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PL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2AC4BE-34EE-4B4C-BA24-DAC34434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48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Planner + batcher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A12BF3-62C8-46F6-8C62-625DA393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95650"/>
            <a:ext cx="1504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Rebalance, ETH/USDC matching, batchGroupId packaging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30E28D-1AAE-4FF1-ABF4-2B67EB6C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8862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CD0C2A-59F8-4438-964B-D32179D7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00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78E4FA-FFC1-4006-8B8A-C8F0804D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767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WK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6E8E91-2A4B-43D2-8ADF-616CA8F7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1955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Coordinator worker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58C074-8374-4B68-8187-FBF00A22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267200"/>
            <a:ext cx="1504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Due scan, retry, receipt tracking, signed or agent execution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6F62E6-8E95-48E3-80B3-B8BD904C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33600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12383">
            <a:solidFill>
              <a:srgbClr val="F59E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215373-E93D-42F0-9DED-E143D2C7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47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B1BEAE-78DA-4868-8456-64B933C2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241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FS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1E5F0E-6885-4E71-B1CD-F4E78381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 stores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199DAC2-FAB4-429C-9946-743231FB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1460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Intent pool, batches, execution plans for local/demo runtime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DDA301-0F48-4EC1-A508-A88ABC89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38500"/>
            <a:ext cx="2190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F59E0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D5D0A9-7888-44C6-A930-95BFD6C6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52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E5070B-A2E4-4534-B178-E3D74C99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290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DB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621E50-C428-44C0-833A-BB9ED675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Supabase/Postgres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913DAE-37AA-4347-AC66-36179C6F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1504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Coordinator jobs as primary store; intents/batches mirrored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5F6389-A622-4A7F-ACB2-A8F55C20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33600"/>
            <a:ext cx="228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7EE"/>
          </a:solidFill>
          <a:ln xmlns:a="http://schemas.openxmlformats.org/drawingml/2006/main" w="12383">
            <a:solidFill>
              <a:srgbClr val="E11D4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DA20EDB-17D5-4F7A-B0BB-CB917CC0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11D4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A7BEDC-E471-4538-8C04-5B380CCC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241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SC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3F8C619-6EEF-4756-8699-08C48074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26695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Smart contracts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9E9CEE-2A17-44BC-AE9F-6F31D6AD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14600"/>
            <a:ext cx="1600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Registry, manager, batch executor, smart account, signed escrow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F014E43-2646-42AB-82BE-FE3B6A5D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371850"/>
            <a:ext cx="2286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E11D4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4A34C5-781D-46F2-931C-A3ACA5CC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86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11D4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4AE3FD-75E8-4997-9002-B2DF5AB3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5623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TX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D73D33-F532-4880-81D3-2DB5FEBD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0520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Sepolia execution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BB7DFC1-1E5A-40D4-94C2-1D983123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528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Wallet tx, signed scheduled call, or authorized Agent call</a:t>
            </a:r>
          </a:p>
        </p:txBody>
      </p:sp>
      <p:sp>
        <p:nvSpPr>
          <p:cNvPr id="52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D0D1FF1E-35D4-4585-87C9-2567D38C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386013"/>
            <a:ext cx="4572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53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9253A5B6-6E8E-4CAD-A2E0-DBA39B72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938588"/>
            <a:ext cx="4572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5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4B195AA9-480D-4BE3-B7DE-D755DC4D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462338"/>
            <a:ext cx="4572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8A7"/>
          </a:solidFill>
          <a:ln xmlns:a="http://schemas.openxmlformats.org/drawingml/2006/main" w="0">
            <a:solidFill>
              <a:srgbClr val="13B8A7"/>
            </a:solidFill>
            <a:prstDash val="solid"/>
          </a:ln>
        </p:spPr>
      </p:sp>
      <p:sp>
        <p:nvSpPr>
          <p:cNvPr id="55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904E5B65-3FD8-4255-9F1E-C3886ABF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9513"/>
            <a:ext cx="4762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56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AAD0FB8E-E155-462F-BFB2-850A8308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43175"/>
            <a:ext cx="4762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22FC004-B632-4BB1-BB1C-3CA48B63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57800"/>
            <a:ext cx="10515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02867AC-9C1B-409B-9D18-384C4C72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Key design rule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3ACDF93-85DE-448F-A20D-8A4825C4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10200"/>
            <a:ext cx="7620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proposes. Users authorize. Contracts enforce. The coordinator scales execution and the dashboard reports evidence.</a:t>
            </a:r>
          </a:p>
        </p:txBody>
      </p:sp>
    </p:spTree>
    <p:extLst>
      <p:ext uri="{BB962C8B-B14F-4D97-AF65-F5344CB8AC3E}">
        <p14:creationId xmlns:p14="http://schemas.microsoft.com/office/powerpoint/2010/main" val="165716108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A7E7F8-5797-4706-A138-248B5BDA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3EC99A-2BD0-4263-AD00-E6BD5ED0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259F6-9E1C-451F-A37C-2A2A9B3E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EXECUTION LIFECYCLE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4691B-C002-42AD-BA99-E8FDF21A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Each on-chain action starts as a validated intent and ends as a tracked receipt.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B50C4-0A3D-4DAB-9F84-64CA1B0F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574D2-3C94-4963-A536-967BCEAA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864469-A389-4F21-9F74-C8451FB1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7AE7E-C759-4FBA-A00D-08AA7710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E9BC79-5CC8-4B01-A8DA-435623E9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2C5957-996C-41A3-B2A6-6EF81C62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1460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600C8-7C39-4EA5-936F-CC98E138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User describes transfer, swap, rebalance, or scheduled 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6AA20F-DFA0-4A67-8837-75EADEF6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3812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6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548991-D573-4854-B631-F9C75E76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95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B2F56C-3631-4D37-9F3F-77835C60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7BE08C-F847-4500-97A5-59136F42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1460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Parse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2C61B-680D-4573-9F08-738E5EB6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622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 proposal is normalized and schema-validated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07AD9B-F6EF-4E6E-8A50-6C576E74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812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12383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952A3-FB2D-4BD3-9210-767FF068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95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0D5762-B877-4807-AD9C-1879075D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717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SIG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373B2B-00F6-4BF0-B435-BE92AC34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Authorize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4E45D7-D5F7-4DCC-B736-16777CB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622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Wallet tx, EIP-712 signature, or Agent permission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1346CC-5A58-4364-9DE1-372DF0F7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812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12383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7A40C-73AD-49BF-88F4-0CC90833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95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812179-84B5-4B64-A47B-37B3661C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JOB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33D807-B099-4481-88BD-CEB6D4D3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1460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Store job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80AF60-51F9-4315-A5E4-57F9425E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622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Coordinator job is queued with runAt and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92F388-B7F9-4AB1-9DE2-7C8BED45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3812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7EE"/>
          </a:solidFill>
          <a:ln xmlns:a="http://schemas.openxmlformats.org/drawingml/2006/main" w="12383">
            <a:solidFill>
              <a:srgbClr val="E11D4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6D0A67-816E-408A-AA39-1F879FC8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95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11D4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D2E9FB-9A6E-4326-9393-9931EA2C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95B6ED-9191-44D5-886F-27C00A03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1460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Execute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61C20B-1944-4E93-9A51-E1D88CEE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Worker submits single or batched transaction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156415-9CAE-4E00-A29C-19255FEC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466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D56392-C184-4A05-9441-3D8A071E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95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7885E8-4ECB-4D18-8499-4D7D5D1D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OBS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3A0816-28BC-4AAE-94BD-3D6AE4BF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51460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EB3C8B-CD6C-4E5D-B9DF-543839F2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Receipt status updates dashboard and metrics</a:t>
            </a:r>
          </a:p>
        </p:txBody>
      </p:sp>
      <p:sp>
        <p:nvSpPr>
          <p:cNvPr id="37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9A63A273-D687-4E6C-A8F1-91F246EC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895600"/>
            <a:ext cx="1905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8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236C0A00-EFB3-418E-A189-B9E5371C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1905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9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E09AE5DF-E01F-40BE-B1E9-9A0F5BF2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95600"/>
            <a:ext cx="1905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40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71B79951-75CE-4D92-A5FC-7EA928F6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95600"/>
            <a:ext cx="1905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41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F08F9B37-C009-459E-B74B-5A313CCD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95600"/>
            <a:ext cx="1905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76EF5AC-F9B1-4097-911E-3969A03A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94488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2D6B202-7786-4CA4-A3CA-169B9CAB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Two authorization paths share the same lifecycle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778925D-F7A1-4182-BC55-B31A8275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19650"/>
            <a:ext cx="809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DE7F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DE7F3"/>
                </a:solidFill>
                <a:latin typeface="Aptos"/>
                <a:ea typeface="Aptos"/>
                <a:cs typeface="Aptos"/>
              </a:rPr>
              <a:t>Default EOA mode: user signs the transaction or signs EIP-712 data for later relayer execution.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734A00B-34D3-4810-83FC-D77A53A8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086350"/>
            <a:ext cx="809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DE7F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DE7F3"/>
                </a:solidFill>
                <a:latin typeface="Aptos"/>
                <a:ea typeface="Aptos"/>
                <a:cs typeface="Aptos"/>
              </a:rPr>
              <a:t>Advanced Agent Wallet mode: owner authorizes the platform Agent once, then the backend Agent signer executes allowed calls.</a:t>
            </a:r>
          </a:p>
        </p:txBody>
      </p:sp>
    </p:spTree>
    <p:extLst>
      <p:ext uri="{BB962C8B-B14F-4D97-AF65-F5344CB8AC3E}">
        <p14:creationId xmlns:p14="http://schemas.microsoft.com/office/powerpoint/2010/main" val="149076167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99B523-E5A2-4F15-8205-9C21B7D6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6CF24-6999-4F57-AD94-2945EC8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D9D09C-54B3-4289-9BC4-07F3F5CE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BACKEND LOGIC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BEB9A-040B-4472-AEB7-E344231C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Node backend is the execution control plane for the demo.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43898-FAAE-411B-8C1B-9D49318E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0A3DC0-A435-4210-BE21-F8F8E8D6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E25B0-67E2-48E3-9EE5-B131DE90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2743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A48AEE-AAA1-4C69-B4F2-A8496792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166296-9EFC-48B8-9D93-AC49E593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63509-190C-44B5-8ACA-55AF925A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4E9B60-6442-43BA-A235-DBD054A5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47900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intentParser.js</a:t>
            </a:r>
          </a:p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Natural-language intent proposals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B1B6D3-F87D-4A85-A379-4DF493E2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2743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705211-7147-4CFC-B97E-72C60F79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D5DBD9-A6CB-4084-B11E-25069614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574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7AF3CC-0CB7-4B4F-BB97-B029793B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00250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Schema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2DEAA2-B178-4EF2-8048-A006177E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47900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intents/schema.js</a:t>
            </a:r>
          </a:p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Deterministic validation before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96C79E-EF2F-430A-935B-A3667715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66900"/>
            <a:ext cx="2743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0FE46D-F8B6-424F-8A54-62FA8FD3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CE7A83-0A1B-42B6-A835-6866CDE2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574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PL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684BC6-FA33-4018-ADDB-1A5C5A47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00250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Planning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B6DA0E-56B2-4699-940C-B5A63C3E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rebalancePlanner.js / matcher.js</a:t>
            </a:r>
          </a:p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Rebalance decomposition and ETH/USDC matching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D202F0-7699-4CB2-BD18-F9CA5AAA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2743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383">
            <a:solidFill>
              <a:srgbClr val="E11D4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E7A52C-E397-483B-9DFD-9242FE5F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11D4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84A00A-F43A-470F-89FE-D64ED57A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BT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26697D-2F6E-4412-87CF-937B57FF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71900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Batching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0CAD21-BAE5-46D7-AAB9-9552B58E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batcher.js / worker.js</a:t>
            </a:r>
          </a:p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Group jobs, retry, submit and confirm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E2F0EE-79BA-4E3F-98E6-71F1EBEE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38550"/>
            <a:ext cx="2743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46B38A-F016-4C34-B038-8F6E70D1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752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E36172-6CE7-4386-B24D-5C5F1EEE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8290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TX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2F16F2-894B-499B-9A2E-A3FE4F93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771900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Chain prep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120FF5-36AD-4FF2-AB61-AD4AAEC8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19550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transactionBuilder.js / settlementService.js</a:t>
            </a:r>
          </a:p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Build wallet, signed, and Agent calls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C524C7-F30C-45D8-B231-2DF4B4E9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38550"/>
            <a:ext cx="2743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EF5B21-25D4-498F-BFED-F5B10596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52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75AE20-1677-4F8B-9FDE-FF05EC33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290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0C1786-DD43-446C-A3DF-CFD7800D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71900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4D6F24-C071-4B81-9D60-75B8C8FE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19550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metrics.js</a:t>
            </a:r>
          </a:p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Throughput, latency, failure, gas and matching metrics</a:t>
            </a:r>
          </a:p>
        </p:txBody>
      </p:sp>
      <p:sp>
        <p:nvSpPr>
          <p:cNvPr id="37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186FC1ED-28A6-4E8E-B363-84833AFB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52675"/>
            <a:ext cx="533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8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15CA573B-A7B9-440D-A220-1974B3AA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52675"/>
            <a:ext cx="533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9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927277E3-2558-410E-BEE0-61895142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24325"/>
            <a:ext cx="533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40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9DB08F6D-A7CC-4BFC-AC3A-7B7EBD45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124325"/>
            <a:ext cx="533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A7D017-8F42-4F38-9573-6DEE30DC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9115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6"/>
          </a:solidFill>
          <a:ln xmlns:a="http://schemas.openxmlformats.org/drawingml/2006/main" w="9525">
            <a:solidFill>
              <a:srgbClr val="13B8A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78A0C3-070B-4587-AA3C-1AB88901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245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Server entry point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3C9A0B-678D-4CDF-9798-60A9FF3F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48640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backend/src/server.js wires these services into the API surface used by the frontend demo.</a:t>
            </a:r>
          </a:p>
        </p:txBody>
      </p:sp>
    </p:spTree>
    <p:extLst>
      <p:ext uri="{BB962C8B-B14F-4D97-AF65-F5344CB8AC3E}">
        <p14:creationId xmlns:p14="http://schemas.microsoft.com/office/powerpoint/2010/main" val="31669768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71DA40-F8E5-4942-8470-91F96829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F1C070-C749-46D7-A3C5-3FD5A89F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4F101C-06E9-406A-8488-AE6AED001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CONTRACT LAYER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1BB043-1A46-4907-AA7F-6AC7DAE4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Solidity contracts enforce identity, permission, batching, and scheduled execution.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EC843-5A6B-4A94-9455-0C5A6398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27BD6-CD93-4998-8964-BC1F7F36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AAEE0-C747-49C5-8267-32B7045A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4E9B8-884D-466F-889F-E993A36A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2FD6CE-EF12-440F-9E57-0ECF8EE8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ECAE6-905F-42B4-A6C3-25ADC07D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764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AgentRegistry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C5B62F-5E45-470A-9172-EB6740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241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Registers autonomous agents and their owner/policy metadata.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A3957-D99F-40EA-BC25-BC7FD832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936FC-D201-412E-92A3-0728248F6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27FE50-EA1B-4FDE-851C-D4068B5C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IM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00E0B3-4E95-4FBB-949B-14442E11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IntentManager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AE6EEE-219F-47CF-A2BF-27DE01EA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1695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Tracks intent lifecycle, duplicate protection, coordinator updates and daily limits.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E1348C-9312-48B8-A54D-AB8F9FBA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7645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6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8385EA-749E-4227-8016-F26E020D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A421D6-B753-4B5E-A20F-F9D31DB2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669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AA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6FF21C-2E03-48A6-9386-203B6EFF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9800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AgentSmartAccount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0B0971-F4D8-42BA-A5E0-CAEAAF99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57450"/>
            <a:ext cx="2171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Owner-controlled account with authorized Agent permissions and executeBatchAgentCalls.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D550C9-0B1D-4F63-8E38-C05195D1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0520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12EF98-015D-4402-9328-BACFE199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19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473A53-B3F6-4E16-A9E0-826FF36E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957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EIP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81CC4B-AA11-4512-A2A7-FF5687E9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38550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SignedIntentEscrow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9A1444-5D3A-4760-918F-05B51155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86200"/>
            <a:ext cx="2171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EIP-712 signed scheduled calls, nonce replay protection and escrow-funded ETH execution.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C19C1A-38F7-43E0-B8C1-634385FC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38400"/>
            <a:ext cx="2686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12383">
            <a:solidFill>
              <a:srgbClr val="F59E0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A504FF-97A7-4134-8F97-58735B88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52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6E5550-72F5-41E3-8D35-448ECD32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289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BAT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CD376A-D624-4183-95BE-436DF3FA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717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BatchExecutor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8C3AA7-2672-447D-A4E3-49E2770E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1940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Protocol-level grouped calls with per-intent result events.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97B49A-7655-46F9-BB55-095ADFB2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7338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F59E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926721-2619-40DF-B49F-941DFAE6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48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38D5FF-95F4-4393-9649-331B3FA4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243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914104-91AB-4BCE-B7E5-F116639C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867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MockERC20 + MockEntryPoint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C3A58A-86F3-45A6-8196-D2858B7B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1480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Local testing support for ERC20 transfers and account abstraction validation.</a:t>
            </a:r>
          </a:p>
        </p:txBody>
      </p:sp>
      <p:sp>
        <p:nvSpPr>
          <p:cNvPr id="37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15C3F842-5BF7-4EB6-92B5-A9529380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47925"/>
            <a:ext cx="8191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8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F76CFE30-071E-471D-8111-A95DB4C0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10000"/>
            <a:ext cx="8191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9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C2A5D7EB-14B4-4F55-9D87-39F62F97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05100"/>
            <a:ext cx="8191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40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BE7E5547-F31A-4225-BAD9-30D1860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67175"/>
            <a:ext cx="8191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EAB2F0-A8ED-419A-B526-E8D23EB6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986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0FE618-B06B-4C6E-8FF7-BB3B86D8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Boundary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335B8A-9553-42CE-8240-3EDBCE4D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48300"/>
            <a:ext cx="742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project implements ERC-4337-style smart account behavior, but not a production bundler/paymaster integration.</a:t>
            </a:r>
          </a:p>
        </p:txBody>
      </p:sp>
    </p:spTree>
    <p:extLst>
      <p:ext uri="{BB962C8B-B14F-4D97-AF65-F5344CB8AC3E}">
        <p14:creationId xmlns:p14="http://schemas.microsoft.com/office/powerpoint/2010/main" val="124329318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477FEC-D2DC-41B2-B2ED-B8E52ED9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4EDB3-ADDE-46E0-8F9F-64E12F9F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49880-35B6-4AAA-B89D-B8D411D2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EXECUTION MODES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15A4F3-FB9C-4FBB-AEDF-F0EA0AE4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demo supports both direct user authorization and delegated Agent execution.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0E9952-0008-4795-9F7E-52E138A6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FE330D-4496-4F16-AE2F-CD73D893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C3A61A-0CF9-4DE3-BD67-4D3F55E2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1435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F80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7AEEE-0D22-4E55-A18A-4BBBBAFC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rPr>
              <a:t>Default EOA + EIP-712 path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5FC02-AAD3-4387-8E64-0D6EBCB4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1524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9DBDD-D954-4859-86FF-DCC910B0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312816-A056-4544-BD39-F0B20D61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EOA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2870F3-6C93-47FB-8078-6D2C04D7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432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EOA wallet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FD9CDB-409C-4DBA-A902-FA3F0131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90850"/>
            <a:ext cx="838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User signs tx or typed 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49496B-9856-4E32-91C8-7DFBE1CF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1733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748277-7FCB-4559-ABD5-67ACED34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1CEF5D-35CA-4A43-80B7-89CA2667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003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SIG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8D027-AAEA-44DB-BF4F-E3E07E52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432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SignedCall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D635EA-79C4-4187-A59D-43B28860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9908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runAt, deadline, dataHash, nonce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4DDE21-1921-4A8C-A562-AAA637FE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0000"/>
            <a:ext cx="152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8028AF-9D29-40DA-BF02-FDAD5AD0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3175AA-8B89-423F-B840-0303AA4D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REL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EB184B-0DF8-4C86-A2EA-CBFAFB03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9433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Relayer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DD82AB-66C4-4E0F-9BB9-DBB714EB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91000"/>
            <a:ext cx="838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executes when due</a:t>
            </a:r>
          </a:p>
        </p:txBody>
      </p:sp>
      <p:sp>
        <p:nvSpPr>
          <p:cNvPr id="2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384EB821-1C5D-4DE9-A544-4A158368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33700"/>
            <a:ext cx="6286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25" name="native-down-arrow">
            <a:extLst xmlns:a="http://schemas.openxmlformats.org/drawingml/2006/main">
              <a:ext uri="{FF2B5EF4-FFF2-40B4-BE49-F238E27FC236}">
                <a16:creationId xmlns:a16="http://schemas.microsoft.com/office/drawing/2014/main" id="{53701403-83C8-4D94-B1E4-615788E9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409950"/>
            <a:ext cx="76200" cy="323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D07335-7CC6-46A3-9277-D0E0FFDB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3962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for scheduled transfer/swap workflows without exposing private keys.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218327-AF0A-42EB-A1F3-33F853C1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51435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3B8A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9A1BA7-D464-4C0A-ABA4-CE0933F6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3835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rPr>
              <a:t>Advanced Agent Wallet path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28DF58-9E45-4224-BAA1-9D2573C6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09850"/>
            <a:ext cx="1600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6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1C66B6-9940-4A75-A2B6-1868033B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0B83D3-122C-41F8-BBE5-E75CB301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003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OWN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102639-F31A-4FA6-846D-45CA8408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43200"/>
            <a:ext cx="91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Owner EOA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3060C1-1DE9-49A3-BA21-67EDCE70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90850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authorizes platform Agent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A6D6DD-A33E-40CB-9BB1-3C6166AE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09850"/>
            <a:ext cx="17526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71E36D-EED7-4353-B7E6-DB939517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659891-1697-4765-A2DC-B8C6BCD5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003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SA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A06445-DB13-4A04-8BB7-F82173B2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432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Smart account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0C838E-E189-4F08-8533-755800BC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9085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permission limits target, value, expiry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8F4ADF-04C5-4B02-B4EB-918F6784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1885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0C34F2-9308-4A3D-AF49-752A70CD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05F3FE-D8E4-400D-BCE4-D9ED4E14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005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AG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658C2C-B716-4F69-9788-50EDB514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43350"/>
            <a:ext cx="1200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 signer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4A9AA5-AE11-4879-8D00-DFA7A850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910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executes allowed single or batch calls</a:t>
            </a:r>
          </a:p>
        </p:txBody>
      </p:sp>
      <p:sp>
        <p:nvSpPr>
          <p:cNvPr id="4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2ACA0B7B-962D-42EB-BCDC-8AD0E9B6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33700"/>
            <a:ext cx="6286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8A7"/>
          </a:solidFill>
          <a:ln xmlns:a="http://schemas.openxmlformats.org/drawingml/2006/main" w="0">
            <a:solidFill>
              <a:srgbClr val="13B8A7"/>
            </a:solidFill>
            <a:prstDash val="solid"/>
          </a:ln>
        </p:spPr>
      </p:sp>
      <p:sp>
        <p:nvSpPr>
          <p:cNvPr id="45" name="native-down-arrow">
            <a:extLst xmlns:a="http://schemas.openxmlformats.org/drawingml/2006/main">
              <a:ext uri="{FF2B5EF4-FFF2-40B4-BE49-F238E27FC236}">
                <a16:creationId xmlns:a16="http://schemas.microsoft.com/office/drawing/2014/main" id="{0E0E9629-A847-48AA-9DC7-66901063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409950"/>
            <a:ext cx="76200" cy="323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3B8A7"/>
          </a:solidFill>
          <a:ln xmlns:a="http://schemas.openxmlformats.org/drawingml/2006/main" w="0">
            <a:solidFill>
              <a:srgbClr val="13B8A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E26C34-54BF-4029-BD7F-6D03433A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76800"/>
            <a:ext cx="400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for autonomous agent behavior after one bounded owner authorization.</a:t>
            </a:r>
          </a:p>
        </p:txBody>
      </p:sp>
    </p:spTree>
    <p:extLst>
      <p:ext uri="{BB962C8B-B14F-4D97-AF65-F5344CB8AC3E}">
        <p14:creationId xmlns:p14="http://schemas.microsoft.com/office/powerpoint/2010/main" val="123085366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05605C-8A70-42D6-9A46-DB80FA7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2660EA-F5AF-4A1B-A8B8-A29FDB9E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DFEC8C-E418-440E-8CEC-710EAE6C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BATCHING AND AGGREGATION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82943C-77C6-485A-A7F9-C4671B65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system reduces repeated execution overhead before touching the chain.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DD34A-9739-4155-9590-4D98E808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C6E102-35A6-4CF3-8F88-46F3C982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B4CFA-2211-489D-8F8E-44252F4C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6BD66-606D-4A9C-98A9-00E9ACB6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6B3D7-D100-45A5-8BA7-8B02D140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857E3-E8D4-423B-A2F0-A00A2FC2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6220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Intent pool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E83E8-39C4-47E3-9B3A-C8C5FB49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09850"/>
            <a:ext cx="1123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queued swap, transfer, rebalance and scheduled intents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2025E-3B90-4D4E-A2D8-C3ED3FCB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38350"/>
            <a:ext cx="2000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6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3BE047-0CFE-4F5B-B52A-DBCFD8A0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6DB00D-2295-4BCF-B73D-15DDD3BE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288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BT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ABFA85-5DEE-45E8-B0B8-9DEEF704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Batch builder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324867-C892-446B-A96F-2D036F18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4193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groups compatible queued work by type and batch size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53B552-515E-46D2-B984-3D1ABAE8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76600"/>
            <a:ext cx="2000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D3A138-38A7-435C-BE25-70ED2E10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390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5DA7FB-971A-4119-A32E-F0D756E9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671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MX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B130D5-82BF-4F10-AE40-A494FDE0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99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Matcher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A5ABD2-534C-463B-9EFE-1685BEA6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6576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ETH/USDC exact and partial matching planner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D4F286-2943-49AA-864A-71BE4CE3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2890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12383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5DDE18-A567-4E20-BED3-E66AB1C2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43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9B3A09-C452-490B-AD8C-4B86D284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194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PKG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58FDE1-2512-46AE-9EF3-6284C3B3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6225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Execution package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DEDBA8-261D-4DB2-982E-4CD5BC11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09900"/>
            <a:ext cx="1504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signed call batch, agent call batch, or external route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40F14D-6E45-4D19-8DAF-4393F2D2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2038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7EE"/>
          </a:solidFill>
          <a:ln xmlns:a="http://schemas.openxmlformats.org/drawingml/2006/main" w="12383">
            <a:solidFill>
              <a:srgbClr val="E11D4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49E7F5-3CB3-4B6E-8D32-37718281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43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11D4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AF9EE7-997B-4847-9E11-533240B3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194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32FF6F-3DBB-4104-B15B-2FC977F5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76225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On-chain execution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288962-D842-47D3-9CC6-4BBF7330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09900"/>
            <a:ext cx="1352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one tx carries several compatible intents when possible</a:t>
            </a:r>
          </a:p>
        </p:txBody>
      </p:sp>
      <p:sp>
        <p:nvSpPr>
          <p:cNvPr id="32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B12A6ECA-F370-4AEC-A932-937020EA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43175"/>
            <a:ext cx="7620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3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954FA07A-C58E-4874-938A-A5688862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162300"/>
            <a:ext cx="7620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77AF9179-3837-4207-B2A1-C3670ECA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67013"/>
            <a:ext cx="7810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5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7177AC58-13CF-4410-90D3-CA0B220B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86138"/>
            <a:ext cx="7810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6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B5A0E73E-3251-482C-B096-15E751A7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86100"/>
            <a:ext cx="7810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4F19A7-D225-48B9-B99A-1F6C01FC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723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3C49C0-9D1C-46D8-AF8E-614C8E0A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Implemented aggregation boundary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E8C3C9-2853-415E-80DB-836E3115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76850"/>
            <a:ext cx="6381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matching planner creates internal-match / partial-match / hybrid-match-route plans. Current chain execution uses existing batch contracts and external Uniswap routing; a dedicated settlement contract remains an extension.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FCCA66-19B8-48A3-9BE0-CB3FC939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38700"/>
            <a:ext cx="20955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21D033-C328-4400-ADFE-D70414D5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97205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rPr>
              <a:t>5x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E0EA2E-9DC2-4D76-81EF-C315B038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362575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throughput per tx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EE646DB-0180-4E96-AD77-AC5A9F37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61975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benchmark target batch size</a:t>
            </a:r>
          </a:p>
        </p:txBody>
      </p:sp>
    </p:spTree>
    <p:extLst>
      <p:ext uri="{BB962C8B-B14F-4D97-AF65-F5344CB8AC3E}">
        <p14:creationId xmlns:p14="http://schemas.microsoft.com/office/powerpoint/2010/main" val="76998025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D5615C-30D1-4C71-8B6B-4AF48ED1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FE71B-D569-43CB-B746-9FE35698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6DD07-14D6-4A63-A6E4-D7A75066B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COORDINATOR STORAGE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BA8F1-55EF-4B3D-9212-C858271B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Postgres claims due jobs atomically so workers do not double-execute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191F2-0EB6-4685-867F-62CD4DD1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DA1601-D709-4C3A-A1B2-507F35D9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811B20-2E8B-4F2B-A183-06C6862D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C922E-4E4E-4C2B-9DDC-13A2E860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968DAD-F5E0-43EA-9D7F-317361B3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27ACD-4844-4653-98F2-19EEEAA1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6220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7DD4E7-3463-4932-B4A0-9C54D141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09850"/>
            <a:ext cx="742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polls due jobs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25B7D1-49E2-4886-8BBC-6F8F2C4B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12383">
            <a:solidFill>
              <a:srgbClr val="2F80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AC859-B869-46A9-986D-6E49E3B2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67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80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A7876D-67C8-4BE2-9228-9BBB1A51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433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43D188-E337-417A-A22D-D53DA614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Worker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449A33-37DD-4184-A12D-21DF41C5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33800"/>
            <a:ext cx="742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polls due jobs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709CC6-8629-4644-822A-18CA2908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552700"/>
            <a:ext cx="2952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6"/>
          </a:solidFill>
          <a:ln xmlns:a="http://schemas.openxmlformats.org/drawingml/2006/main" w="12383">
            <a:solidFill>
              <a:srgbClr val="13B8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0184D6-A4B6-4404-8786-02F76BD7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3B8A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1343C9-0E5E-4EC1-AEB7-BBEED6C9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4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RPC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6E92FB-4B7E-460C-8AF0-9826C21D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2266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aap_claim_due_coordinator_jobs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026DB2-45F4-4C40-A247-15217920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933700"/>
            <a:ext cx="2266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Postgres RPC selects QUEUED / RETRY rows where runAt &lt;= now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4845A-FFAD-4889-80F7-D754D8C97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52700"/>
            <a:ext cx="22479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12383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D7369-1977-4DC8-9B28-E75631DF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C993AE-E8A9-4B34-9D3D-0A848ED6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SQL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8933B6-77EF-4C8E-B66B-AA4D1651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860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FOR UPDATE SKIP LOCKED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9E7E2B-BF4E-4E2D-8935-AE857C07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33700"/>
            <a:ext cx="1562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locked rows are skipped by other workers while one worker updates status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3B7FC4-67C4-4F32-AAF8-202326DB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552700"/>
            <a:ext cx="1524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7EE"/>
          </a:solidFill>
          <a:ln xmlns:a="http://schemas.openxmlformats.org/drawingml/2006/main" w="12383">
            <a:solidFill>
              <a:srgbClr val="E11D4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9BA926-F116-4EBA-9E34-7EF58EB4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11D4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E7CDB3-95DD-4094-86E9-8ABE6BF9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74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CB2C46-76CD-4E34-B620-EBD9EB1D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860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EXECUTING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C6169E-F626-4B48-9D35-E888622A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9337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attempts increments and payload data is updated before execution</a:t>
            </a:r>
          </a:p>
        </p:txBody>
      </p:sp>
      <p:sp>
        <p:nvSpPr>
          <p:cNvPr id="32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059041C9-BA6F-4766-A9C8-8EE03850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5113"/>
            <a:ext cx="10477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3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882BADDE-7CC7-4423-8F70-25BB757A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67088"/>
            <a:ext cx="10477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2131E733-EAB7-4B61-814C-4354C43E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76575"/>
            <a:ext cx="895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8A7"/>
          </a:solidFill>
          <a:ln xmlns:a="http://schemas.openxmlformats.org/drawingml/2006/main" w="0">
            <a:solidFill>
              <a:srgbClr val="13B8A7"/>
            </a:solidFill>
            <a:prstDash val="solid"/>
          </a:ln>
        </p:spPr>
      </p:sp>
      <p:sp>
        <p:nvSpPr>
          <p:cNvPr id="35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906C46E6-F974-4F46-AA24-B8FED125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076575"/>
            <a:ext cx="4000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89EC1E-5ABB-4BEE-8792-8A555629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10096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6E53D4-D7F8-4D3C-B611-49B2E8BD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Storage boundary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F72BCF-CAAF-4EBE-A366-31B943CF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05375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Coordinator jobs are Supabase/Postgres primary storage when SUPABASE_URL and SUPABASE_SERVICE_ROLE_KEY are configured. Intents and batches are still local stores with Supabase mirror writes.</a:t>
            </a:r>
          </a:p>
        </p:txBody>
      </p:sp>
    </p:spTree>
    <p:extLst>
      <p:ext uri="{BB962C8B-B14F-4D97-AF65-F5344CB8AC3E}">
        <p14:creationId xmlns:p14="http://schemas.microsoft.com/office/powerpoint/2010/main" val="154318066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7CCDD2-14EE-42DC-8E4A-CAC6D549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E94A6D-46B7-42E0-8A44-C2DF35FC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B072B7-8F92-423B-A8F2-AF65888E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CORE BACKEND CODE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0C152E-A495-498B-8143-43A29561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worker claims, groups, executes, and confirms jobs through explicit state transitions.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D29B0-A675-4AD9-9953-46ECC38A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8C753-49F5-480F-B3F2-7935CA10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4A48E-7C81-4C8B-8B63-3C3F4CD1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51435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E9272D-6A90-4799-B722-8E2086B9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480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backend/src/coordinator/supabaseJobStore.js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691EE-1E56-492E-A1C3-0DDBB03C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48006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async dueJobs(now = new Date()) {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const rows = await client.rpc(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  "aap_claim_due_coordinator_jobs",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  { p_now: now.toISOString(), p_limit: 50 }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return rows.map(mapRowToJob);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612DA-520D-4D09-BB4B-A011A4CC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1435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60F16-BEDF-41CA-AA64-64190585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81200"/>
            <a:ext cx="480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backend/src/coordinator/worker.js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83A2FD-B6C5-45F4-A334-7590EE27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66950"/>
            <a:ext cx="48006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async function executeDueJobs(summary) {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const due = await store.dueJobs(new Date(Date.now() - dueGraceMs));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const groups = groupBy(due, job =&gt; job.batchGroupId ?? job.jobId);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for (const jobs of groups.values()) {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  await executeSignedJobs(jobs, summary);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  await executeAgentJobs(jobs, summary);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}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445A4F-92E5-416B-91E9-B3222AE6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51435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CE7F2B-7675-46FE-A491-553327F6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480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State write after submission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00ECCC-3DF8-49AC-AEB2-0CFF9B2D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48006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await store.updateJob(job.jobId, {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status: "SUBMITTED",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txHash: result.primaryTxHash,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submittedAt: new Date().toISOString(),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error: null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});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41199-7EC2-4294-8D50-626BB5B2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514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C04505-C895-40F7-802B-6677866D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1960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this matters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7183D4-7011-4A04-B027-474C0CFF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0535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worker forms execution sets from due jobs, chooses signed-call or Agent-call execution, then records tx hashes and receipt outcomes for metrics.</a:t>
            </a:r>
          </a:p>
        </p:txBody>
      </p:sp>
    </p:spTree>
    <p:extLst>
      <p:ext uri="{BB962C8B-B14F-4D97-AF65-F5344CB8AC3E}">
        <p14:creationId xmlns:p14="http://schemas.microsoft.com/office/powerpoint/2010/main" val="178840914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271776-E675-4389-ADDE-E81AF1A2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F4ABE6-D81E-4A35-889D-34D62B7A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B8A7"/>
          </a:solidFill>
          <a:ln xmlns:a="http://schemas.openxmlformats.org/drawingml/2006/main" w="0">
            <a:solidFill>
              <a:srgbClr val="13B8A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A63CE-B3F3-4EC7-8C1B-F03EE129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7F3D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7F3D0"/>
                </a:solidFill>
                <a:latin typeface="Aptos"/>
                <a:ea typeface="Aptos"/>
                <a:cs typeface="Aptos"/>
              </a:rPr>
              <a:t>CORE CONTRACT CODE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D8F695-9817-4760-BD6B-F5706655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On-chain checks keep automated execution inside explicit user authorization.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95DC6-9051-4CF1-84FC-B58DD80F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6C0C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6C0CE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BCE13-88E5-4961-AAFD-E06E0098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B6C0CE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B6C0C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876F9-29D8-4F88-8432-A08C8FB8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334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CD84F-A37D-4726-86C5-CD824243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4991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AgentSmartAccount permission gate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431622-3A1F-409A-91DF-DD3441E4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9911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function _validateAgentPermission(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address agent,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address target,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uint256 value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) private view {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if (revokedAgents[agent]) revert AgentNotAuthorized();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if (revokedAgentTargets[agent][target]) revert TargetNotAllowed();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AgentPermission memory permission = agentTargetPermissions[agent][target];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if (!permission.active) permission = agentPermissions[agent];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if (!permission.active) revert AgentNotAuthorized();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if (permission.validUntil &lt; block.timestamp) revert AgentPermissionExpired();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if (permission.target != address(0) &amp;&amp; permission.target != target) revert TargetNotAllowed();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if (value &gt; permission.maxValue) revert ValueExceedsPermission();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33DC91-EC3D-4B71-A2F1-237D816D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5334000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4B8AD5-C730-4BFF-833B-DBACB637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4991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SignedIntentEscrow scheduled execution 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A417E7-3DFF-42EE-8F20-68612001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28850"/>
            <a:ext cx="499110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if (usedNonces[call_.nonce]) revert NonceAlreadyUsed();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if (block.timestamp &lt; call_.runAt) revert NotDue();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if (block.timestamp &gt; call_.deadline) revert SignatureExpired();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if (keccak256(data) != call_.dataHash) revert DataHashMismatch();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bytes32 digest = digestFor(call_);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if (SimpleECDSA.recover(digest, signature) != call_.owner)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revert InvalidSignature();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if (balances[call_.owner] &lt; call_.value)</a:t>
            </a:r>
          </a:p>
          <a:p xmlns:a="http://schemas.openxmlformats.org/drawingml/2006/main">
            <a:pPr algn="l">
              <a:def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  revert InsufficientEscrowBalance();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7A4D31-A1B5-457A-A9F4-E7BFE0D4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05350"/>
            <a:ext cx="533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AF355D-5EF2-4C00-A49F-A7C24797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3870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DE7F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DE7F3"/>
                </a:solidFill>
                <a:latin typeface="Aptos"/>
                <a:ea typeface="Aptos"/>
                <a:cs typeface="Aptos"/>
              </a:rPr>
              <a:t>Security boundary: AI never bypasses wallet authorization. It only proposes; EOA signatures, EIP-712 signatures, or Agent permissions decide execution.</a:t>
            </a:r>
          </a:p>
        </p:txBody>
      </p:sp>
    </p:spTree>
    <p:extLst>
      <p:ext uri="{BB962C8B-B14F-4D97-AF65-F5344CB8AC3E}">
        <p14:creationId xmlns:p14="http://schemas.microsoft.com/office/powerpoint/2010/main" val="61289757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FCC19B-93AD-479A-B4BA-DAF7D124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C024D-94E1-408C-B52B-C80A8BD3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178DA-F130-419F-8BD6-99DE9D82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D8816-9A76-4727-8EF3-4CDA4E5D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demo is backed by tests, gas benchmarks, and dashboard metrics.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4090C-0453-48A7-81C5-A1611FED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333555-42AF-4AC5-8339-C18ED5AD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C9F14C-9AC4-4443-9D55-829FA7F0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22860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85E87-F68B-4BB2-B44C-D5A96693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rPr>
              <a:t>55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23598-8E8C-46B4-AE47-892693F5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86025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backend tests passing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14DE1-FD86-45AD-95C4-6D5C87F5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 parser, coordinator, metrics, wallet prep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15E99-C664-4764-B407-B07EF5EF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62150"/>
            <a:ext cx="22860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42370-CBAD-48E7-82E4-AE480D44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27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E77A5-046E-4ACF-B9D7-3B54D471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86025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Foundry tests passing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5D9F04-459F-416E-9883-71020146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43200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registry, escrow, smart account, batching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B29476-6F36-42C7-8010-F1866862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62150"/>
            <a:ext cx="22860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2C5BA2-A8A0-44E6-A863-21639D55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rPr>
              <a:t>40 -&gt; 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A7216D-50A1-4997-9678-34133A8A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86025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benchmark tx count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8312AC-FC06-4CED-833B-A6D7643E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43200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80% fewer transactions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27686A-079A-439D-8481-0396CB9F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62150"/>
            <a:ext cx="22860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BE11B-AFBE-477C-8350-C7AFC9C9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46.75%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D13EED-455D-4B2E-AB55-23C0336B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86025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estimated gas reduction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0D78BA-3158-48E4-98A4-25B5100D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43200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synthetic 40-intent benchmark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D642C7-9BBE-4071-9B1C-27B5D516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476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658EB9-063F-41DB-B6D5-524EA237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0525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Local-EVM gas benchmark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192516-EF27-416F-B09D-27A0204F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3581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Five authorized AgentSmartAccount ERC20 transfer intents were measured with setup/auth excluded and transaction envelope gas added for comparability.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CE6777-D457-4ECE-93BC-D08F26AA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965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Result: 5 transactions collapsed to 1, comparable gas fell from 240,226 to 160,922.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D3AD26-36EC-4AEB-BFE0-63FC8641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76650"/>
            <a:ext cx="4476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B9933B-6E50-4C95-A556-53C37A87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052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Dashboard proof points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9F8CE7-5C6F-406C-BFF2-B6FD220D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48150"/>
            <a:ext cx="3619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DE7F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DE7F3"/>
                </a:solidFill>
                <a:latin typeface="Aptos"/>
                <a:ea typeface="Aptos"/>
                <a:cs typeface="Aptos"/>
              </a:rPr>
              <a:t>Live metrics report coordinator jobs, success/failure rate, average batch size, throughput, latency, estimated no-batch gas, actual batch gas and aggregation match rate.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97A3A4-854C-4866-87C0-C2636919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3395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B6C0CE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B6C0CE"/>
                </a:solidFill>
                <a:latin typeface="Aptos"/>
                <a:ea typeface="Aptos"/>
                <a:cs typeface="Aptos"/>
              </a:rPr>
              <a:t>Source: report/benchmark-results.json and /metrics API.</a:t>
            </a:r>
          </a:p>
        </p:txBody>
      </p:sp>
    </p:spTree>
    <p:extLst>
      <p:ext uri="{BB962C8B-B14F-4D97-AF65-F5344CB8AC3E}">
        <p14:creationId xmlns:p14="http://schemas.microsoft.com/office/powerpoint/2010/main" val="168486510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ABFC6F-A5DD-4A38-96F0-073BED35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5C3BF-37A0-47C9-A1A0-0E36ED17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solidFill>
              <a:srgbClr val="2F80E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45EFA-EB09-441D-9492-AAC6BA0E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0E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0ED"/>
                </a:solidFill>
                <a:latin typeface="Aptos"/>
                <a:ea typeface="Aptos"/>
                <a:cs typeface="Aptos"/>
              </a:rPr>
              <a:t>DEMO RUNBOOK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5AD09-99ED-4699-8BCD-550B4F4B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live walkthrough follows one clean path from prompt to observable result.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FF891-0C61-43C8-9B62-843F8641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BD0F7-9618-42AF-A367-CB9F084E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C3768-44AD-423F-B8B3-3CD99996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DFA1EB-375D-4108-9C0F-A723FC97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258AEB-FA36-4F44-A55A-F0A968FD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288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 services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4DE00E-0D1E-453E-969C-AE4FB325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14600"/>
            <a:ext cx="1924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backend npm start; frontend npm start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A05D95-5A22-47A0-A0C8-39F847A9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3835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0AAF05-1B8A-44E4-96CE-6B4C37C9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098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8B7A1-ECC2-4285-958D-EB4F73ED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288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Connect wallet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5DF52-AA84-484E-B395-7F48AA2D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14600"/>
            <a:ext cx="1924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EOA connects to Sepolia and backend status turns online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6A3E7E-BAC4-48EB-B129-622703AE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3835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83386F-C6B0-4307-9863-9B384185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098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02AA03-ACB5-4BC2-8D4A-E3A88B45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Create intent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623449-A87F-4F69-AA83-2ADCC695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14600"/>
            <a:ext cx="1924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 chat or template parses transfer / swap / rebalance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C93041-0831-4994-8E24-DD48FA5A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10AFF7-334E-41F5-828C-10CF9F6A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4DDE9C-7B22-45D8-9655-7C850C97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386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Authorize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025184-75CD-42DB-92A7-A37A1135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24350"/>
            <a:ext cx="1924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Wallet tx, EIP-712 signature, or Agent Wallet permission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09AC8E-A7B3-4B74-BBF4-E5E2B68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4810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58D273-0214-447B-95B1-42D99C21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195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F80ED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C07556-4640-4C7A-AAC3-514FFDA8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386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Execute batch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AE78A8-FF42-4BA5-B8C6-736C4AAC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324350"/>
            <a:ext cx="1924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Coordinator or Agent path submits transaction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C0A5B1-21B3-475B-9A44-A2C4AA4E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4810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DA4F56-DD94-44D8-A46E-8407E6E1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195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3B8A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799672-F436-4447-80B2-D9CC72B0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386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Show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0B5EBC-4B6C-4614-8895-87F563DE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24350"/>
            <a:ext cx="1924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History, Etherscan link, dashboard metrics</a:t>
            </a:r>
          </a:p>
        </p:txBody>
      </p:sp>
      <p:sp>
        <p:nvSpPr>
          <p:cNvPr id="31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1D3A9B0B-C5C8-4205-8038-B7EBB0B1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514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2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A4B6BE23-9179-4B2D-9522-67A8BFFE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33650"/>
            <a:ext cx="514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3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236D2C25-C69D-42D0-BE13-B838287D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343400"/>
            <a:ext cx="514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C7571790-6FB3-4D3B-B20B-854CD7BD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343400"/>
            <a:ext cx="514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solidFill>
              <a:srgbClr val="5B647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BE328A-ED93-49D2-AD38-40023BA0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2925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F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3F78B7-A582-4022-BBB9-B18FA684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543550"/>
            <a:ext cx="7143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 local demo at http://localhost:5173; backend defaults to http://localhost:8787.</a:t>
            </a:r>
          </a:p>
        </p:txBody>
      </p:sp>
    </p:spTree>
    <p:extLst>
      <p:ext uri="{BB962C8B-B14F-4D97-AF65-F5344CB8AC3E}">
        <p14:creationId xmlns:p14="http://schemas.microsoft.com/office/powerpoint/2010/main" val="43811448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0EF087-9597-4673-963D-0098BFF5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22ED7D-8A6B-41AE-9AB0-14C86928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DEMO VIDEO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04CF4-0575-40D6-A081-1708EDFF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Insert the recorded walkthrough here.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88606-FE56-46C3-9E8F-FC9E11BC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10096500" cy="3771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635B9F-7ECB-489B-8D0B-141A2047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670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2235"/>
          </a:solidFill>
          <a:ln xmlns:a="http://schemas.openxmlformats.org/drawingml/2006/main" w="28575">
            <a:solidFill>
              <a:srgbClr val="13B8A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B9DA0-2248-4B66-A96A-6E9A830C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5280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3B8A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B8A7"/>
                </a:solidFill>
                <a:latin typeface="Aptos"/>
                <a:ea typeface="Aptos"/>
                <a:cs typeface="Aptos"/>
              </a:rPr>
              <a:t>PLAY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B2665-C785-42AB-B138-1F6DDF15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719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Placeholder for 2-4 minute demo video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7CF65-1115-4D47-8A61-B7C23076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3390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B6C0C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6C0CE"/>
                </a:solidFill>
                <a:latin typeface="Aptos"/>
                <a:ea typeface="Aptos"/>
                <a:cs typeface="Aptos"/>
              </a:rPr>
              <a:t>Suggested recording: connect wallet -&gt; parse intent -&gt; authorize -&gt; execute -&gt; show Etherscan/history -&gt; show dashboard metrics.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458DC-F229-43A8-96DC-28E35AE0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6C0C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6C0CE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A97558-68F3-4F8F-903C-C7E19286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B6C0CE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B6C0C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372709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2026-05-27T03:20:33.4970000Z</dcterms:created>
  <dcterms:modified xsi:type="dcterms:W3CDTF">2026-05-27T03:20:33.4970000Z</dcterms:modified>
</coreProperties>
</file>