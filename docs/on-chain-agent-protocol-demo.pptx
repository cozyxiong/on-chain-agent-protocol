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15590165ae4fe0" /><Relationship Type="http://schemas.openxmlformats.org/officeDocument/2006/relationships/extended-properties" Target="/docProps/app.xml" Id="Rd71f69260ccb4328" /><Relationship Type="http://schemas.openxmlformats.org/officeDocument/2006/relationships/officeDocument" Target="/ppt/presentation.xml" Id="R89a21b7db2294f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081805838c42e6"/>
  </p:sldMasterIdLst>
  <p:notesMasterIdLst>
    <p:notesMasterId xmlns:r="http://schemas.openxmlformats.org/officeDocument/2006/relationships" r:id="R5758b8eb95b54b30"/>
  </p:notesMasterIdLst>
  <p:sldIdLst>
    <p:sldId xmlns:r="http://schemas.openxmlformats.org/officeDocument/2006/relationships" id="256" r:id="R02c493ecc73f4b2a"/>
    <p:sldId xmlns:r="http://schemas.openxmlformats.org/officeDocument/2006/relationships" id="257" r:id="R541625c2d8374f11"/>
    <p:sldId xmlns:r="http://schemas.openxmlformats.org/officeDocument/2006/relationships" id="258" r:id="Ree592d20033748ab"/>
    <p:sldId xmlns:r="http://schemas.openxmlformats.org/officeDocument/2006/relationships" id="259" r:id="R0f01ec01d9514ea0"/>
    <p:sldId xmlns:r="http://schemas.openxmlformats.org/officeDocument/2006/relationships" id="260" r:id="R6dc29fefd7ca4388"/>
    <p:sldId xmlns:r="http://schemas.openxmlformats.org/officeDocument/2006/relationships" id="261" r:id="R87fb0d7c97864d31"/>
    <p:sldId xmlns:r="http://schemas.openxmlformats.org/officeDocument/2006/relationships" id="262" r:id="R0a6768d85d194392"/>
    <p:sldId xmlns:r="http://schemas.openxmlformats.org/officeDocument/2006/relationships" id="263" r:id="Rf4f9d23f21af49c1"/>
    <p:sldId xmlns:r="http://schemas.openxmlformats.org/officeDocument/2006/relationships" id="264" r:id="R33ee2f44f8604c4a"/>
    <p:sldId xmlns:r="http://schemas.openxmlformats.org/officeDocument/2006/relationships" id="265" r:id="R90779044ec794b7b"/>
    <p:sldId xmlns:r="http://schemas.openxmlformats.org/officeDocument/2006/relationships" id="266" r:id="R584b09f6561240de"/>
    <p:sldId xmlns:r="http://schemas.openxmlformats.org/officeDocument/2006/relationships" id="267" r:id="Rcdf0a051608d4b63"/>
    <p:sldId xmlns:r="http://schemas.openxmlformats.org/officeDocument/2006/relationships" id="268" r:id="Ra4a12b82040a4b00"/>
    <p:sldId xmlns:r="http://schemas.openxmlformats.org/officeDocument/2006/relationships" id="269" r:id="Rb2a78de18e8f49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81805838c42e6" /><Relationship Type="http://schemas.openxmlformats.org/officeDocument/2006/relationships/theme" Target="/ppt/theme/theme1.xml" Id="R9ef303558d6749df" /><Relationship Type="http://schemas.openxmlformats.org/officeDocument/2006/relationships/notesMaster" Target="/ppt/notesMasters/notesMaster1.xml" Id="R5758b8eb95b54b30" /><Relationship Type="http://schemas.openxmlformats.org/officeDocument/2006/relationships/presProps" Target="/ppt/presProps.xml" Id="Rebf62539ed8840ad" /><Relationship Type="http://schemas.openxmlformats.org/officeDocument/2006/relationships/viewProps" Target="/ppt/viewProps.xml" Id="R7261cc0ec2a84652" /><Relationship Type="http://schemas.openxmlformats.org/officeDocument/2006/relationships/tableStyles" Target="/ppt/tableStyles.xml" Id="R969d7ca78c5d4675" /><Relationship Type="http://schemas.openxmlformats.org/officeDocument/2006/relationships/slide" Target="/ppt/slides/slide1.xml" Id="R02c493ecc73f4b2a" /><Relationship Type="http://schemas.openxmlformats.org/officeDocument/2006/relationships/slide" Target="/ppt/slides/slide2.xml" Id="R541625c2d8374f11" /><Relationship Type="http://schemas.openxmlformats.org/officeDocument/2006/relationships/slide" Target="/ppt/slides/slide3.xml" Id="Ree592d20033748ab" /><Relationship Type="http://schemas.openxmlformats.org/officeDocument/2006/relationships/slide" Target="/ppt/slides/slide4.xml" Id="R0f01ec01d9514ea0" /><Relationship Type="http://schemas.openxmlformats.org/officeDocument/2006/relationships/slide" Target="/ppt/slides/slide5.xml" Id="R6dc29fefd7ca4388" /><Relationship Type="http://schemas.openxmlformats.org/officeDocument/2006/relationships/slide" Target="/ppt/slides/slide6.xml" Id="R87fb0d7c97864d31" /><Relationship Type="http://schemas.openxmlformats.org/officeDocument/2006/relationships/slide" Target="/ppt/slides/slide7.xml" Id="R0a6768d85d194392" /><Relationship Type="http://schemas.openxmlformats.org/officeDocument/2006/relationships/slide" Target="/ppt/slides/slide8.xml" Id="Rf4f9d23f21af49c1" /><Relationship Type="http://schemas.openxmlformats.org/officeDocument/2006/relationships/slide" Target="/ppt/slides/slide9.xml" Id="R33ee2f44f8604c4a" /><Relationship Type="http://schemas.openxmlformats.org/officeDocument/2006/relationships/slide" Target="/ppt/slides/slide10.xml" Id="R90779044ec794b7b" /><Relationship Type="http://schemas.openxmlformats.org/officeDocument/2006/relationships/slide" Target="/ppt/slides/slide11.xml" Id="R584b09f6561240de" /><Relationship Type="http://schemas.openxmlformats.org/officeDocument/2006/relationships/slide" Target="/ppt/slides/slide12.xml" Id="Rcdf0a051608d4b63" /><Relationship Type="http://schemas.openxmlformats.org/officeDocument/2006/relationships/slide" Target="/ppt/slides/slide13.xml" Id="Ra4a12b82040a4b00" /><Relationship Type="http://schemas.openxmlformats.org/officeDocument/2006/relationships/slide" Target="/ppt/slides/slide14.xml" Id="Rb2a78de18e8f49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14fd0fba64e45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41f8a2ba7b4d18" /><Relationship Type="http://schemas.openxmlformats.org/officeDocument/2006/relationships/notesMaster" Target="/ppt/notesMasters/notesMaster1.xml" Id="R11e97cd0e4a74d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89e26baf124c3d" /><Relationship Type="http://schemas.openxmlformats.org/officeDocument/2006/relationships/notesMaster" Target="/ppt/notesMasters/notesMaster1.xml" Id="Rfc812627bfb34e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c20492ac8e4bd9" /><Relationship Type="http://schemas.openxmlformats.org/officeDocument/2006/relationships/notesMaster" Target="/ppt/notesMasters/notesMaster1.xml" Id="R0c3f11bb57654a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ed060c59ec485c" /><Relationship Type="http://schemas.openxmlformats.org/officeDocument/2006/relationships/notesMaster" Target="/ppt/notesMasters/notesMaster1.xml" Id="R6444eec22c2443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5735b72859465e" /><Relationship Type="http://schemas.openxmlformats.org/officeDocument/2006/relationships/notesMaster" Target="/ppt/notesMasters/notesMaster1.xml" Id="R904f11b6b2ce44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fea172932947b2" /><Relationship Type="http://schemas.openxmlformats.org/officeDocument/2006/relationships/notesMaster" Target="/ppt/notesMasters/notesMaster1.xml" Id="R46c56077916044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d64e843b5b4c45" /><Relationship Type="http://schemas.openxmlformats.org/officeDocument/2006/relationships/notesMaster" Target="/ppt/notesMasters/notesMaster1.xml" Id="R851d7384937447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1b155e504b4e48" /><Relationship Type="http://schemas.openxmlformats.org/officeDocument/2006/relationships/notesMaster" Target="/ppt/notesMasters/notesMaster1.xml" Id="Rb5a14b646eb049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2a2b1dfac04a37" /><Relationship Type="http://schemas.openxmlformats.org/officeDocument/2006/relationships/notesMaster" Target="/ppt/notesMasters/notesMaster1.xml" Id="Ra262b0a5195147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0905a073a74f0c" /><Relationship Type="http://schemas.openxmlformats.org/officeDocument/2006/relationships/notesMaster" Target="/ppt/notesMasters/notesMaster1.xml" Id="Rfc523e5413844b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f060fdc16248bd" /><Relationship Type="http://schemas.openxmlformats.org/officeDocument/2006/relationships/notesMaster" Target="/ppt/notesMasters/notesMaster1.xml" Id="R6527d91c1ce441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0ccaf1d3fe4d80" /><Relationship Type="http://schemas.openxmlformats.org/officeDocument/2006/relationships/notesMaster" Target="/ppt/notesMasters/notesMaster1.xml" Id="Rc5f545f6f9b644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a1726363c74360" /><Relationship Type="http://schemas.openxmlformats.org/officeDocument/2006/relationships/notesMaster" Target="/ppt/notesMasters/notesMaster1.xml" Id="Rb822f46db1364e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39ae6185784d9e" /><Relationship Type="http://schemas.openxmlformats.org/officeDocument/2006/relationships/notesMaster" Target="/ppt/notesMasters/notesMaster1.xml" Id="R584c6258ed1244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fc12bbbc746b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fec19b52cb04c64" /><Relationship Type="http://schemas.openxmlformats.org/officeDocument/2006/relationships/slideLayout" Target="/ppt/slideLayouts/slideLayout2.xml" Id="Re7bb801a19dd4c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bb801a19dd4c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de0880278e4842" /><Relationship Type="http://schemas.openxmlformats.org/officeDocument/2006/relationships/notesSlide" Target="/ppt/notesSlides/notesSlide1.xml" Id="Ree4b8421cb1347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8c6fa9e4a94ae7" /><Relationship Type="http://schemas.openxmlformats.org/officeDocument/2006/relationships/notesSlide" Target="/ppt/notesSlides/notesSlide2.xml" Id="Rc6e021b9297842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298afc32364e55" /><Relationship Type="http://schemas.openxmlformats.org/officeDocument/2006/relationships/notesSlide" Target="/ppt/notesSlides/notesSlide3.xml" Id="Rbbf32206abfa42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aec12223494584" /><Relationship Type="http://schemas.openxmlformats.org/officeDocument/2006/relationships/notesSlide" Target="/ppt/notesSlides/notesSlide4.xml" Id="Ree2e7869cbca43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91a5dac2b14d18" /><Relationship Type="http://schemas.openxmlformats.org/officeDocument/2006/relationships/notesSlide" Target="/ppt/notesSlides/notesSlide5.xml" Id="R296d0e0dcfbb43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b781a770754e52" /><Relationship Type="http://schemas.openxmlformats.org/officeDocument/2006/relationships/notesSlide" Target="/ppt/notesSlides/notesSlide6.xml" Id="Re3c19adcbad74c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cdd579dfa54355" /><Relationship Type="http://schemas.openxmlformats.org/officeDocument/2006/relationships/notesSlide" Target="/ppt/notesSlides/notesSlide7.xml" Id="Rcf7f8f9790ac45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84a798f4a54fc9" /><Relationship Type="http://schemas.openxmlformats.org/officeDocument/2006/relationships/notesSlide" Target="/ppt/notesSlides/notesSlide8.xml" Id="Re4fe9eca347f42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ad4fc0f0fd4cae" /><Relationship Type="http://schemas.openxmlformats.org/officeDocument/2006/relationships/notesSlide" Target="/ppt/notesSlides/notesSlide9.xml" Id="R7307f919468b42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bbcf729778470e" /><Relationship Type="http://schemas.openxmlformats.org/officeDocument/2006/relationships/notesSlide" Target="/ppt/notesSlides/notesSlide10.xml" Id="R886992cbc3f849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3f1582704b4581" /><Relationship Type="http://schemas.openxmlformats.org/officeDocument/2006/relationships/notesSlide" Target="/ppt/notesSlides/notesSlide11.xml" Id="R8bd382623db249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b38b289c174517" /><Relationship Type="http://schemas.openxmlformats.org/officeDocument/2006/relationships/notesSlide" Target="/ppt/notesSlides/notesSlide12.xml" Id="Rea305545595d44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46ce37329d4884" /><Relationship Type="http://schemas.openxmlformats.org/officeDocument/2006/relationships/notesSlide" Target="/ppt/notesSlides/notesSlide13.xml" Id="R450b471322dd4e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292bb487ff4ec6" /><Relationship Type="http://schemas.openxmlformats.org/officeDocument/2006/relationships/notesSlide" Target="/ppt/notesSlides/notesSlide14.xml" Id="R3eff216de1fe49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9804D6-FAB4-401D-975B-60A09BCB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A73F8-0A3E-4F43-A838-7FE136E6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CF896-20E0-46F8-88F6-9CA45552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476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7"/>
          </a:solidFill>
          <a:ln xmlns:a="http://schemas.openxmlformats.org/drawingml/2006/main" w="0">
            <a:solidFill>
              <a:srgbClr val="13B8A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5D012-37CA-40EA-807D-59AD77F6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0125A-8301-42E5-8F23-C5505C3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57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DEMO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6E446-5BF9-48B5-BADD-A703D4CD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AI-Powered On-Chain Agent Protocol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481C4-4E71-4C68-A6B1-6C32EBA7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4DC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4DCE8"/>
                </a:solidFill>
                <a:latin typeface="Aptos"/>
                <a:ea typeface="Aptos"/>
                <a:cs typeface="Aptos"/>
              </a:rPr>
              <a:t>A working intent execution network for AI agents: natural-language intents, smart-account authorization, asynchronous job execution, batching, and live performance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E167A-AB0F-4F36-B2D1-D9802A39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1790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89BE3-2C68-4BF6-A3CF-AE27BBCD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B8A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3B8A7"/>
                </a:solidFill>
                <a:latin typeface="Aptos Display"/>
                <a:ea typeface="Aptos Display"/>
                <a:cs typeface="Aptos Display"/>
              </a:rPr>
              <a:t>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A5C68-3CE1-48AD-9D3E-E699A89C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C2975-96B0-4F45-826C-21378307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3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3E1"/>
                </a:solidFill>
                <a:latin typeface="Aptos"/>
                <a:ea typeface="Aptos"/>
                <a:cs typeface="Aptos"/>
              </a:rPr>
              <a:t>Node test suite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203EC-DDB4-49D1-892F-EBD82630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76750"/>
            <a:ext cx="1790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1CBD5-0F6D-437B-8E37-ECD6C09F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101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B8CEB-C995-423D-9666-1FD467E2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9110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contract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C2817-1F79-4347-92EE-BC47C085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387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3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3E1"/>
                </a:solidFill>
                <a:latin typeface="Aptos"/>
                <a:ea typeface="Aptos"/>
                <a:cs typeface="Aptos"/>
              </a:rPr>
              <a:t>Foundry suite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D98F9-A99C-4486-B410-A7CB4E66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76750"/>
            <a:ext cx="1790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A7696-3775-4323-9010-2A3F7705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01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80E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80ED"/>
                </a:solidFill>
                <a:latin typeface="Aptos Display"/>
                <a:ea typeface="Aptos Display"/>
                <a:cs typeface="Aptos Display"/>
              </a:rPr>
              <a:t>-80%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54314-10DE-4B50-A0E4-99F4CA58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9110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tx 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037B4-3CF3-4B03-A783-B228EAD6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387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3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3E1"/>
                </a:solidFill>
                <a:latin typeface="Aptos"/>
                <a:ea typeface="Aptos"/>
                <a:cs typeface="Aptos"/>
              </a:rPr>
              <a:t>40 intents -&gt; 8 tx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252D9-BDCB-40E6-B3BE-437510D4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1790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19460-CACF-4DC4-BC81-A9C5DCEA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101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33.01%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82238-1DD8-446C-A0D7-D7A7F0EB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9110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gas cut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459C0-8200-4B40-A3D2-8829E6D2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387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3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3E1"/>
                </a:solidFill>
                <a:latin typeface="Aptos"/>
                <a:ea typeface="Aptos"/>
                <a:cs typeface="Aptos"/>
              </a:rPr>
              <a:t>5 intents benchmark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29F92-1150-45EE-B2B9-8238E31D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847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C0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C0CE"/>
                </a:solidFill>
                <a:latin typeface="Aptos"/>
                <a:ea typeface="Aptos"/>
                <a:cs typeface="Aptos"/>
              </a:rPr>
              <a:t>Current implementation boundary: coordinator jobs can use Supabase/Postgres as primary storage; intents and batches are mirrored to Supabase for history.</a:t>
            </a:r>
          </a:p>
        </p:txBody>
      </p:sp>
    </p:spTree>
    <p:extLst>
      <p:ext uri="{BB962C8B-B14F-4D97-AF65-F5344CB8AC3E}">
        <p14:creationId xmlns:p14="http://schemas.microsoft.com/office/powerpoint/2010/main" val="15723791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9EF2C9-26F7-46F7-A929-639F9F43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41315-FDA9-4B14-9859-F687BDC0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513C3-C297-491A-944B-EC9CEA99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RUBRIC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FF5A2-3460-45B8-97D1-B87B46C1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implementation maps directly to the project requirements.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3E0B9-CFB2-4E32-9936-960B9F05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AI-Powered On-Chain Agent Protocol | Demo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75FD6-C659-4137-9EAA-E1071C40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1B4AE-EE63-4A92-8452-29C33537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0A3FF-B90C-46C1-B8E0-C6BAB305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501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05254-6F51-4473-81A5-1517A591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1924050"/>
            <a:ext cx="2501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74590-2F7E-4B75-91B7-01FCAA2A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650" y="1924050"/>
            <a:ext cx="2501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B4786-4060-44E9-B5A5-32B31228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B0DD6-5F3C-4EF5-A6D8-9A9838AD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protocol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88CE4-B435-44E9-8447-F70B055F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25527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AgentRegistry, IntentManager, AgentSmartAccount, SignedIntentEscrow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36F26-23F9-40D4-B23C-74CB4C59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650" y="25527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FDC79-A9AD-4F46-A6BF-04DC2C8D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8D882-F465-414C-8826-E6E79EAA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Intent submission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834FFC-9A38-44A1-B619-2D2A98E2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32385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 parser, templates, wallet transaction builders, scheduled workflow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503A6-2350-4DFC-B40F-7EECD0F4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650" y="32385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09C80-0AF8-4426-82DC-26160427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32D89-B924-4839-9666-076F1D94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Batching / aggregation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A451A-CB05-4AC5-9186-126AE2BC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39243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Smart-account batches, EIP-712 scheduled batches, ETH/USDC matching planner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1957F3-967B-47CB-9823-7104BF6D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650" y="39243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8996B-BF29-42F5-B333-D184D055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2E8D57-6591-4A5D-A174-E2999412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Async coordinator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4CD7A-A1C1-47ED-8768-D58F0181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46101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Due job scan, retry, receipt tracking, Supabase SKIP LOCKED claim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C54E86-E744-482D-87C8-BED8C940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650" y="46101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92B6DC-E3EC-4856-91D0-61A07FAB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C8F70-4C8F-4F42-A267-2C0F6D12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Performance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308E4-0183-491C-B3AB-32C64358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52959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Dashboard metrics, benchmark JSON, 55 backend tests, 27 contract tests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09645B-FD50-46DC-9778-47810968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650" y="5295900"/>
            <a:ext cx="250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4A4C62-D950-4B63-9B43-DC52F667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Demo framing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2518AC-A8C0-4D3D-83D0-8A2743F6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A415EF-ACA9-4166-BA71-24ED1227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574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Show product 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EFBD62-02A2-4614-8EAE-EEA61B22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6"/>
          </a:solidFill>
          <a:ln xmlns:a="http://schemas.openxmlformats.org/drawingml/2006/main" w="9525">
            <a:solidFill>
              <a:srgbClr val="13B8A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729F08-C8F8-4D13-AC70-0E24C3EB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384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B8A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B8A7"/>
                </a:solidFill>
                <a:latin typeface="Aptos"/>
                <a:ea typeface="Aptos"/>
                <a:cs typeface="Aptos"/>
              </a:rPr>
              <a:t>Prove backend logic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EB754E-9BBF-4E3A-9E7A-72005C34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94499D-CCE8-4150-BA52-02205FF3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194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Show contract controls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684F80-AACF-4231-A417-3FEFD4FB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E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22E4E5-453B-4E6C-BB8F-A3C3F89F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04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Close with metrics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97D004-3A57-4094-9B1D-A7F3718C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deck intentionally describes what exists now. Planned upgrades are treated as boundaries, not as delivered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4765227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0006A0-CE4A-4FFF-80EC-68323EE3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335D8-33F8-4356-9A89-4FF42E4A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13BB7-149C-4681-93D3-51FD49AB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CURRENT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C648B-AFCE-4367-9171-6F640480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Proposal, authorization, execution, and observability are separated.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39404-AD60-4595-B818-5FC56FD5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AI-Powered On-Chain Agent Protocol | Demo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A04AB-F595-403B-A7BD-A4E9E9DC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DC15C-77C8-40B9-BF24-862350A6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User-facing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5904C-D591-46D5-B1C9-DDD8CFE5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DE4FB-1FD7-447B-9ED3-9C867351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Frontend console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C8B5C-7A0F-4309-923E-477B7AC0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1733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Wallet connect, AI chat, templates, history,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3A8B9-8FF8-4BF0-A2B2-97D54C71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F2CC3-A5C7-41C5-A342-900A43FF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Wallet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F8EDE-9FFF-4166-910B-C782FF16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733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EOA signatures or owner authorization for Agent Wallet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457D4-3961-479F-B719-BCBC4B70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955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D3E6C-0E9F-48CA-95DF-D0D2AEEA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003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B3947-F130-4C7B-A466-8B38D5B0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766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15827-AA7B-4B75-A7A8-B77E9051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814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ED3801-8BD3-4F24-BE5E-49CC83EF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383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B8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B8A7"/>
                </a:solidFill>
                <a:latin typeface="Aptos"/>
                <a:ea typeface="Aptos"/>
                <a:cs typeface="Aptos"/>
              </a:rPr>
              <a:t>Backend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94317-3182-4851-8B13-CD98F516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431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6"/>
          </a:solidFill>
          <a:ln xmlns:a="http://schemas.openxmlformats.org/drawingml/2006/main" w="12383">
            <a:solidFill>
              <a:srgbClr val="13B8A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62DD5-41C2-49F4-98AD-51ED5747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574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 parser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3629EB-A9D0-45CE-AD92-4537E61F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050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DeepSeek/OpenAI-compatible parsing into validated intents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8C624-4A6F-4929-80A0-1F9611B2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14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3B8A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BB57F-2210-4BA0-8716-43825371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Planner + batcher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3C917A-321A-40E8-918C-6B452D61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7660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Rebalance, ETH/USDC matching, batchGroupId packaging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D0998-66B2-4F45-A157-8E51A434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3B8A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F1065B-682C-4B49-B90B-62430A30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Coordinator worker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9E80F-B051-4B9A-8840-9BA150D4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481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Due scan, retry, receipt tracking, signed or agent execution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E2E225-8466-47F3-B9E7-7F3F53CF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337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7"/>
          </a:solidFill>
          <a:ln xmlns:a="http://schemas.openxmlformats.org/drawingml/2006/main" w="0">
            <a:solidFill>
              <a:srgbClr val="13B8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940EE2-3DEA-49DD-8439-9D024405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B8A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B8A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B4B039-25B6-43F1-9CC1-102E07E1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383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Storage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E29DFE-67D5-4DB6-BF1E-62AEFE98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12383">
            <a:solidFill>
              <a:srgbClr val="F59E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FB504B-C218-4590-AA86-B7D488CF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Local stores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AC2F29-6BB3-4153-BD27-D1C4E5FD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Intent pool, batches, execution plans for local/demo runtime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C0B5B2-4450-49FB-90C3-09EA87F9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385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59E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6BAABA-BFBF-41BE-9280-4FA2F3BB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528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Supabase/Postgres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871FC1-ABDA-44F8-904D-D8467763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Coordinator jobs as primary store; intents/batches mirrored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B1CF13-4AFE-4374-A4A0-49CFB4D3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EC7423-1597-4971-9113-BCD85751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B7500D-4EBB-49FA-9E6B-A894FA08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383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On-chain layer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E1C82B-83DD-4B3B-A7B6-F7EBFAEC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E"/>
          </a:solidFill>
          <a:ln xmlns:a="http://schemas.openxmlformats.org/drawingml/2006/main" w="12383">
            <a:solidFill>
              <a:srgbClr val="E11D4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C6EA08-3606-4978-88A6-D2FFF5F1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479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Smart contracts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D7A735-0147-4A37-813B-A42BEBD6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95550"/>
            <a:ext cx="1924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Registry, manager, batch executor, smart account, signed escrow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A27CCE-44E5-4CDC-BB53-BBA94D97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718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11D4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E645F2-E18B-4D7A-9B5C-455DD231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861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Sepolia execution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784523-432F-48AE-B079-122C9AEE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33800"/>
            <a:ext cx="1924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Wallet tx, signed scheduled call, or authorized Agent call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A0D600-6511-4D66-AEEB-996665BA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1051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4F2E14-DFEF-4580-8964-A5D6D795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Key design rule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5B2C05-EC32-4461-A708-B222F688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 proposes. Users authorize. Contracts enforce. The coordinator scales execution and the dashboard reports evidence.</a:t>
            </a:r>
          </a:p>
        </p:txBody>
      </p:sp>
    </p:spTree>
    <p:extLst>
      <p:ext uri="{BB962C8B-B14F-4D97-AF65-F5344CB8AC3E}">
        <p14:creationId xmlns:p14="http://schemas.microsoft.com/office/powerpoint/2010/main" val="208929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3F485F-ACA0-478E-9B24-FF9E4DB2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E979D-476C-406E-B1AC-1D4069D8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91227-2F3B-48DA-AFFC-0CEC3BC4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EXECUTION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67DF3-A154-4415-98CE-C64E7D73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Each on-chain action starts as a validated intent and ends as a tracked receipt.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9E036-85B1-460B-8E5D-8110EC8D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AI-Powered On-Chain Agent Protocol | Demo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48C4D-2048-4266-91E9-09173F17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80ADE-5AE4-4BF8-A745-DBC67406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466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C8775-D1F5-4F69-9820-745BA953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E1EF6-0C6E-4780-9408-A7294323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User describes transfer, swap, rebalance, or scheduled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209D0-A64A-409E-9B9A-2463E87C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337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75ACA-F129-45D5-B9C8-4BD71B3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384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5C345-9FC1-4BEC-9D44-06BFDC32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81250"/>
            <a:ext cx="1466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6"/>
          </a:solidFill>
          <a:ln xmlns:a="http://schemas.openxmlformats.org/drawingml/2006/main" w="12383">
            <a:solidFill>
              <a:srgbClr val="13B8A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26F78-B399-4EEF-A916-12A34250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955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C13FA-C682-4FEE-BE1A-77803C2D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432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 proposal is normalized and schema-validated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09F7D-9B84-414E-B666-0790FEF7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337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903DF-4CCA-4E6F-B25E-D2CCFEC1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384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BFDF3-3BE9-4575-B6B1-F8E63C22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81250"/>
            <a:ext cx="1466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12383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880EA-7145-4437-AD49-B243199F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955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Authorize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D1ADA-3873-4487-AAAC-896895DE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432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Wallet tx, EIP-712 signature, or Agent permission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BAAF9-A49D-41E4-9118-C9E901C7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337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2CD2D1-3D32-4958-9C1B-80D2483F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384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3B08B-B165-424F-BB65-47A391D9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81250"/>
            <a:ext cx="1466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12383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2B729-7D43-425C-A79C-A97215BA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955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Store job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29308-7341-4145-97D8-FAD0F65E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432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Coordinator job is queued with runAt and payload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89E241-82ED-4FFD-9D1F-64C70B92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337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424068-F5F1-4855-A22D-BA79D1D6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384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8C2094-CF81-49CF-B95A-CF214695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1466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E"/>
          </a:solidFill>
          <a:ln xmlns:a="http://schemas.openxmlformats.org/drawingml/2006/main" w="12383">
            <a:solidFill>
              <a:srgbClr val="E11D4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23292A-4263-4F11-B81F-FB8421B5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918028-2034-436D-BFC2-D084130B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432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Worker submits single or batched transaction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07D6D7-2069-4707-994A-6BD5F63F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337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CE3555-91D2-400B-BDC7-D550C3E6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384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AEEEC8-A747-4CED-BDB7-81686FA2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466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81F371-7251-4A7D-AFC9-6C2AC460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955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176EEC-C90C-4C05-AED5-F540F08C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432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Receipt status updates dashboard and metrics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733E3B-2DD2-4098-82D9-37DE4E8C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9448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AD3DFD-9F81-41BC-9C62-C7D1A80D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Two authorization paths share the same lifecycle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23A8D9-95F8-4084-9A80-FB294A45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965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7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F3"/>
                </a:solidFill>
                <a:latin typeface="Aptos"/>
                <a:ea typeface="Aptos"/>
                <a:cs typeface="Aptos"/>
              </a:rPr>
              <a:t>Default EOA mode: user signs the transaction or signs EIP-712 data for later relayer execution.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F8E1FF-D345-4C87-B357-9E3DF61C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8635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7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F3"/>
                </a:solidFill>
                <a:latin typeface="Aptos"/>
                <a:ea typeface="Aptos"/>
                <a:cs typeface="Aptos"/>
              </a:rPr>
              <a:t>Advanced Agent Wallet mode: owner authorizes the platform Agent once, then the backend Agent signer executes allowed calls.</a:t>
            </a:r>
          </a:p>
        </p:txBody>
      </p:sp>
    </p:spTree>
    <p:extLst>
      <p:ext uri="{BB962C8B-B14F-4D97-AF65-F5344CB8AC3E}">
        <p14:creationId xmlns:p14="http://schemas.microsoft.com/office/powerpoint/2010/main" val="9591794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861980-355E-49B8-AADE-94049428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9B4E3-2CC0-49B3-9D5C-4394C7D3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94EAA-6782-4891-A1FF-C49C6B1D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BACKEND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52217-E5B1-45D4-9AEB-660B902C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Node backend is the execution control plane for the demo.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F4C56-A83B-4DA9-86D0-7BAB988E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AI-Powered On-Chain Agent Protocol | Demo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DBBD7-211F-4A94-8460-7DA1FFC5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1B30A-B534-488A-A2FB-7CA0012E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74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3CAAB-29FD-4080-AD94-32B80041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7EA2C-407E-4E59-92C3-8E7E53A2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intentParser.js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Natural-language intent proposals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8C49C-AE71-4896-9D2A-40DAA300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274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2383">
            <a:solidFill>
              <a:srgbClr val="13B8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9281A-BD6E-41C2-870F-DCFB076B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81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95D6F-D407-41E7-B502-195478F4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288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intents/schema.js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Deterministic validation before execution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B08E2-1C77-42EB-B0B3-F4CDFBE7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274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6BA9C-4E01-4672-9FBD-0FB41B0B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81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Planning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066F1-13C3-4B69-9F3F-EC720887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288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rebalancePlanner.js / matcher.js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Rebalance decomposition and ETH/USDC matching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E6B5F-7B71-46BE-91FC-88699EDF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274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2383">
            <a:solidFill>
              <a:srgbClr val="E11D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E9BB3-930A-44C6-B29E-0F9A0180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Batching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A2094-A2F0-4FEC-ACDF-96A91B64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batcher.js / worker.js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Group jobs, retry, submit and confirm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86E48-CB9D-4C9F-92A3-76EB7DC9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274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9474D-5ACA-486F-B6C2-38169676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52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Chain prep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629F3-FE09-473F-9D07-C0351DB0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transactionBuilder.js / settlementService.js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Build wallet, signed, and Agent calls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D7D54-A00A-4383-AA04-49FE2D9B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74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2383">
            <a:solidFill>
              <a:srgbClr val="13B8A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780D5-9B03-4AB7-8F39-1A1498F9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52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609C8C-07AB-472C-BD43-282D20C6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metrics.js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Throughput, latency, failure, gas and matching metrics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07E84A-6855-4402-8A58-5A983BFE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EC43A9-6B3C-480B-B6EB-D3251BAB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860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B12EB6-C529-47C6-8E2F-C6AA01B7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505DC1-A7A2-4289-A53A-514399D4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860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589E16-FBD5-4F1F-9B1D-39269DED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529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DD1E7B-C965-4FEA-8018-F8FDC778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576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748AD9-ACF9-4663-8D9A-A1013F4C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529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FD221F-89FC-492D-A2C6-4FF74F96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576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C47EC7-201E-4DC5-9B98-CE11C819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6"/>
          </a:solidFill>
          <a:ln xmlns:a="http://schemas.openxmlformats.org/drawingml/2006/main" w="9525">
            <a:solidFill>
              <a:srgbClr val="13B8A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BE9783-8C68-48C6-9024-C3C8052A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245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B8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B8A7"/>
                </a:solidFill>
                <a:latin typeface="Aptos"/>
                <a:ea typeface="Aptos"/>
                <a:cs typeface="Aptos"/>
              </a:rPr>
              <a:t>Server entry point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B574A3-CC8D-4B4C-BE77-8A3E1C10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86400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backend/src/server.js wires these services into the API surface used by the frontend demo.</a:t>
            </a:r>
          </a:p>
        </p:txBody>
      </p:sp>
    </p:spTree>
    <p:extLst>
      <p:ext uri="{BB962C8B-B14F-4D97-AF65-F5344CB8AC3E}">
        <p14:creationId xmlns:p14="http://schemas.microsoft.com/office/powerpoint/2010/main" val="3355472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20975E-C55E-4F03-8C33-C60A1FD8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A32E5-9924-4B57-8A23-9F0CDA2A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5AB20-3BBD-4988-B08A-05F4C503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CONTRACT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D2747-778E-428C-A07C-6B22819F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Solidity contracts enforce identity, permission, batching, and scheduled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6E2D5-82A6-4972-BAC8-022E89EA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AI-Powered On-Chain Agent Protocol | Demo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04875-745E-4497-B540-C6057173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24203-08BE-40E6-B5A6-B62D87F3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BAF29-10F0-4079-9AB2-080F05FB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AgentRegistry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EE610-894F-4E23-BDEF-DCDAC9CF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Registers autonomous agents and their owner/policy metadata.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E4BE7-9843-4CB6-A452-32AEBF00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C4B05-0C18-4945-813C-E7E1BBC0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IntentManager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A6BC0-F9EC-49D6-9FC1-A86A6CDD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114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Tracks intent lifecycle, duplicate protection, coordinator updates and daily limits.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2217C-82C9-4CF8-B5AC-28288770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4737C-B52A-4200-BF71-37BC0198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050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B4047-45A0-4FCF-8E14-688DDBC0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766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3AD90-1E00-48D5-BFC0-A6D7E6D5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814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7A4E1-0C2F-4E98-9AAB-A5D7BD3B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764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6"/>
          </a:solidFill>
          <a:ln xmlns:a="http://schemas.openxmlformats.org/drawingml/2006/main" w="12383">
            <a:solidFill>
              <a:srgbClr val="13B8A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A27D7-51B0-4117-AED9-73D98CC3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AgentSmartAccount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AE348-ADC5-4D04-97B4-4B3AAF97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2590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Owner-controlled account with authorized Agent permissions and executeBatchAgentCalls.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B96DE-09F4-4AE4-987A-76982F74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052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3B8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F0ECFE-BE86-4B0E-88E8-2747639C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1950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SignedIntentEscrow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0B609-CDB1-4CB6-8F65-C881ACA9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67150"/>
            <a:ext cx="2590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EIP-712 signed scheduled calls, nonce replay protection and escrow-funded ETH execution.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138DD-060F-4319-B669-C45DA50C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9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5F6994-D7A5-4BE6-BF63-08243730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146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575271-6E40-4B7D-95F6-88BAEBA5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386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EEEC1E-5516-49E7-80EC-729E4737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61F923-33A2-4900-9A3C-2D357D29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38400"/>
            <a:ext cx="2686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12383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D24622-7308-4412-9365-44A13C8C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BatchExecutor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5AF0DB-36D1-447B-82A9-9191FA5C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2419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Protocol-level grouped calls with per-intent result events.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6A5926-2A82-4D40-92E6-720B61AC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2686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7CED9E-E9CF-4D2D-B327-1BB95397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MockERC20 + MockEntryPoint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09462E-778E-478E-B93A-5CC8211F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Local testing support for ERC20 transfers and account abstraction validation.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1AFDB9-6D52-4C13-B8EF-36AC952E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986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3FF5FF-FCDD-4D51-AB64-676921EE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1A5763-EA78-4017-96E9-A59504EB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project implements ERC-4337-style smart account behavior, but not a production bundler/paymaster integration.</a:t>
            </a:r>
          </a:p>
        </p:txBody>
      </p:sp>
    </p:spTree>
    <p:extLst>
      <p:ext uri="{BB962C8B-B14F-4D97-AF65-F5344CB8AC3E}">
        <p14:creationId xmlns:p14="http://schemas.microsoft.com/office/powerpoint/2010/main" val="18554051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17D900-7CC6-4268-B0F4-6D45E4E8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CB89C-7806-4CA9-998D-79980426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88C99-8C18-436D-9233-A20263A7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EXECUTION MODES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3DAB3-248B-4EE6-9FB6-5BAC1F44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demo supports both direct user authorization and delegated Agent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3E6DD-0AB7-4512-A089-085AD5A8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AI-Powered On-Chain Agent Protocol | Demo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84C63-2F16-46A4-AF9C-F74951FA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C4643-2F1C-4AE9-B770-60C552C4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143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AECD8-D927-4DA4-8C98-E7A11076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F80ED"/>
                </a:solidFill>
                <a:latin typeface="Aptos Display"/>
                <a:ea typeface="Aptos Display"/>
                <a:cs typeface="Aptos Display"/>
              </a:rPr>
              <a:t>Default EOA + EIP-712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0E99D-40BA-45D9-86ED-34D2A88F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6AA00-FE08-4A60-A44A-803C963F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EOA wallet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7B63D-FC17-4871-B7B6-D218DE90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User signs tx or typed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96CF6-5C88-47EC-9F78-EC08D060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718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A50D6-15BF-414A-9137-7C389B57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765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F338F-0DAF-4647-A11D-E6444BFF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9850"/>
            <a:ext cx="1733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81EFB-6952-4590-A749-9CF862D2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41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SignedCall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099E9-6DE6-482C-B4F8-CBBB1999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71800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runAt, deadline, dataHash, nonce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86D32-5BC0-4CB0-BF9B-1E052FC9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00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F90B08-2D4A-4DD5-B39A-CADB229C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243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BFB9E-7FC4-4F5C-883F-EF666EA5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719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executes when 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40E93-7A01-4347-8535-FBFF4021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3962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Best for scheduled transfer/swap workflows without exposing private keys.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A1781-24D1-4CD0-958A-C9D509BF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5143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3B8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4688C-0EFA-4F9D-942B-1DFE721E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B8A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B8A7"/>
                </a:solidFill>
                <a:latin typeface="Aptos Display"/>
                <a:ea typeface="Aptos Display"/>
                <a:cs typeface="Aptos Display"/>
              </a:rPr>
              <a:t>Advanced Agent Wallet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D0C246-3C93-4D83-AB70-79B65EB1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09850"/>
            <a:ext cx="1600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6"/>
          </a:solidFill>
          <a:ln xmlns:a="http://schemas.openxmlformats.org/drawingml/2006/main" w="12383">
            <a:solidFill>
              <a:srgbClr val="13B8A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4B1721-F2D5-4785-90AC-04A80958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241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Owner EOA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57849-4846-4C09-8E22-2C4B3E39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7180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authorizes platform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DC6EF6-F9A1-4FB4-8FCA-6956E7B6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7"/>
          </a:solidFill>
          <a:ln xmlns:a="http://schemas.openxmlformats.org/drawingml/2006/main" w="0">
            <a:solidFill>
              <a:srgbClr val="13B8A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172491-0ACC-4541-AE12-4629BEBF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B8A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B8A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14DB33-9D79-48B1-9308-CC541D1A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9850"/>
            <a:ext cx="175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3B8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B5D7F0-0346-41D4-BD19-056400A9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241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Smart account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2DA464-660B-494D-B299-A76FAEE0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718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permission limits target, value, expiry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7E4384-9E55-4532-9C1E-8B47D46D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188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3B8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F7DBC4-A654-48CE-9510-E73AE46F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24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signer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AC54C3-7FFC-4846-8B6C-8750D9BB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719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executes allowed single or batch calls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BE4DA2-7C55-4186-A16B-EBC4BA90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768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Best for autonomous agent behavior after one bounded owner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3709229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6A1767-D122-4830-93E8-20A6BD35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29AF7-09BE-407E-8197-AD0D43AC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DABA2-1A13-44BF-A8D6-4CD4EE45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BATCHING AND AGGREGATION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EFC1A-0AA4-459C-A91F-FF7842E8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system reduces repeated execution overhead before touching the chain.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79386-B205-4617-91DB-D5D8DD18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AI-Powered On-Chain Agent Protocol | Demo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08525-1CB6-4B47-BB8A-030D15E6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7D46C-BC97-490E-A4AA-0D03957C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210FE-1FFD-4555-B249-BE5F6DA6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Intent pool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59A57-8775-4B24-A0FC-4D3C4A10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1543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queued swap, transfer, rebalance and scheduled intents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0A471-FDE2-4953-9C90-62445EB5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860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B142D-665F-4963-90F8-3D691D26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908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E1056-C370-4A12-BA8A-EE236054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383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6"/>
          </a:solidFill>
          <a:ln xmlns:a="http://schemas.openxmlformats.org/drawingml/2006/main" w="12383">
            <a:solidFill>
              <a:srgbClr val="13B8A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C6C32-4033-400D-B7DB-1232299F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Batch builder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A380A-F4D0-40CD-9AA7-47C51FCB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1733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groups compatible queued work by type and batch size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18552-FA28-467B-99B1-0A9A1D33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766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3B8A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BEC27-185D-4188-8E96-BDBAC8B3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Matcher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EB471-8A7A-4D75-AAEB-959F173E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38550"/>
            <a:ext cx="1733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ETH/USDC exact and partial matching planner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7254B-9F53-4B2E-94FF-53C7F852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860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9BBF2-0B0F-4CB4-9488-A0D1788C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908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085C8-F654-4924-94F8-89139FF5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338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DBCAF-2D42-48F6-A2C4-1B85CFA8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6E317C-6111-4EE3-98F0-B8DEFB16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12383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7A1243-3CF6-46C1-B34C-97B8557E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Execution package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E0CA6C-AE71-48B7-A7ED-1BB82332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9085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signed call batch, agent call batch, or external route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54B9DE-5965-45CB-B601-793757D3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0F2D89-D08A-481A-8AFF-229C0F59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00CBFF-A404-4102-8730-F33ED03C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28900"/>
            <a:ext cx="2038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E"/>
          </a:solidFill>
          <a:ln xmlns:a="http://schemas.openxmlformats.org/drawingml/2006/main" w="12383">
            <a:solidFill>
              <a:srgbClr val="E11D4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183A96-5273-47C3-9582-92869090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4320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On-chain execution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5A78F5-EFEF-43A5-A938-81E703AF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90850"/>
            <a:ext cx="1771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one tx carries several compatible intents when possible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5C7AE2-DDCA-4AE5-B869-E9249BE3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73FE2-831E-421F-BB45-ED6DCC0E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Implemented aggregation 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E738DB-FEB5-4146-98DF-CF5783A0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638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matching planner creates internal-match / partial-match / hybrid-match-route plans. The current chain execution path uses existing batch contracts and external Uniswap routing; a dedicated settlement contract remains an extension.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86B710-273E-4926-B38B-4B8BCBBB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38700"/>
            <a:ext cx="2095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E61D07-B805-4A8C-A691-4603AFE4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7205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80E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80ED"/>
                </a:solidFill>
                <a:latin typeface="Aptos Display"/>
                <a:ea typeface="Aptos Display"/>
                <a:cs typeface="Aptos Display"/>
              </a:rPr>
              <a:t>5x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5DEDB0-FFCA-41C2-B91F-9AF67F0C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5305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throughput per tx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1C4060-7CB3-41ED-B2F2-60EE0CE6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007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benchmark target batch size</a:t>
            </a:r>
          </a:p>
        </p:txBody>
      </p:sp>
    </p:spTree>
    <p:extLst>
      <p:ext uri="{BB962C8B-B14F-4D97-AF65-F5344CB8AC3E}">
        <p14:creationId xmlns:p14="http://schemas.microsoft.com/office/powerpoint/2010/main" val="19904993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235557-9B6B-4C7D-99D2-0C006FB5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AF999-2972-4D29-A290-816FCD01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49755-7D1B-4BD6-A786-7C4D16E2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COORDINATOR STORAGE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0E72A-1D66-4285-819C-A7782C0E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Postgres claims due jobs atomically so workers do not double-execute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20DF6-641A-43D2-A6B5-EBE1BB63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AI-Powered On-Chain Agent Protocol | Demo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5AE5C-1268-4123-84B1-C4A6637C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7DB74-15CF-4A49-A5AE-3120EDF6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42EB5-4F71-4401-A92A-6F0378AC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Worker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0BA24-1387-4C88-B6F2-C9C60794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polls due jobs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B634D-C098-43F5-BC52-96DB1272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A532A-A481-4AF1-8BCC-82427E04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Worker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42763-3BF4-44D0-9C0E-D3D8931B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polls due jobs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4C8E2-70F2-44F1-A68B-E58F1C0A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717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5344A-726C-477A-93D0-A455F02C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765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51453-3D1D-4F7A-89AA-55C4C563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957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15F76-F108-4954-9790-A1EFD792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004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370D5-A57F-463D-A267-2AF7D178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5270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6"/>
          </a:solidFill>
          <a:ln xmlns:a="http://schemas.openxmlformats.org/drawingml/2006/main" w="12383">
            <a:solidFill>
              <a:srgbClr val="13B8A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535FA4-A241-42BC-8A6F-1FC4A8D6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67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aap_claim_due_coordinator_jobs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D1EBF-AAF8-425B-8BBE-CBCE941D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14650"/>
            <a:ext cx="2686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Postgres RPC selects QUEUED / RETRY rows where runAt &lt;= now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A75A3-3F0D-403F-B315-D32A4FDA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24200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7"/>
          </a:solidFill>
          <a:ln xmlns:a="http://schemas.openxmlformats.org/drawingml/2006/main" w="0">
            <a:solidFill>
              <a:srgbClr val="13B8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05D620-97AF-4627-9832-355AF435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B8A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B8A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FC2F1-061C-4550-83AB-4C4E45A3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5270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12383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9363BA-E095-4B6D-831D-83482B35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70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FOR UPDATE SKIP LOCKED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66C5D7-BB1D-423C-ACBD-8EEA1CED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locked rows are skipped by other workers while one worker updates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4B3A71-3C9D-4CE9-9955-CCD8B88D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24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36FEF0-5FB1-413B-A1FD-33E40D13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289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CF2E55-C91F-4F0D-A1B8-83BAF3ED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52700"/>
            <a:ext cx="1200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E"/>
          </a:solidFill>
          <a:ln xmlns:a="http://schemas.openxmlformats.org/drawingml/2006/main" w="12383">
            <a:solidFill>
              <a:srgbClr val="E11D4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D691EB-FE34-4BD6-9E16-2F88E657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EXECUTING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0C1963-6044-4E41-9D06-738216C1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14650"/>
            <a:ext cx="933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attempts increments and payload data is updated before execution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D1C77E-27AD-43D7-B966-408C21B4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009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370F55-AB26-4E61-8C79-088684D5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Storage 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8C2702-3A63-41EB-9A6F-75DB9F98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05375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Coordinator jobs are Supabase/Postgres primary storage when SUPABASE_URL and SUPABASE_SERVICE_ROLE_KEY are configured. Intents and batches are still local stores with Supabase mirror writes.</a:t>
            </a:r>
          </a:p>
        </p:txBody>
      </p:sp>
    </p:spTree>
    <p:extLst>
      <p:ext uri="{BB962C8B-B14F-4D97-AF65-F5344CB8AC3E}">
        <p14:creationId xmlns:p14="http://schemas.microsoft.com/office/powerpoint/2010/main" val="5802633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E62BC-AC35-4F6F-A50D-FDB32283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BBAAD-5DF2-4969-ABA6-D595E6E6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4198E-07FB-41A5-81D1-55665EBC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CORE BACKEND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A0B55-78A2-4CC6-B854-AF187F49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worker claims, groups, executes, and confirms jobs through explicit state transitions.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86D54-7563-458B-8B23-2934FF1B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AI-Powered On-Chain Agent Protocol | Demo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F76A1-E37E-473A-9257-138F9860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274E4-4294-48ED-8FC2-251A5F54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5143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FAD2D-7C3E-4A7B-8A3B-CB778781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B8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B8A7"/>
                </a:solidFill>
                <a:latin typeface="Aptos"/>
                <a:ea typeface="Aptos"/>
                <a:cs typeface="Aptos"/>
              </a:rPr>
              <a:t>backend/src/coordinator/supabaseJobStore.js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88A76-6B06-4AB4-A641-DE931D0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8006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async dueJobs(now = new Date()) {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const rows = await client.rpc(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"aap_claim_due_coordinator_jobs",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{ p_now: now.toISOString(), p_limit: 50 }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return rows.map(mapRowToJob);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613BD-D39C-4108-96AE-9846273E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5143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F4F7B-C418-49E8-BC39-0AB754B3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8120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B8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B8A7"/>
                </a:solidFill>
                <a:latin typeface="Aptos"/>
                <a:ea typeface="Aptos"/>
                <a:cs typeface="Aptos"/>
              </a:rPr>
              <a:t>backend/src/coordinator/worker.js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45E3B-928F-482F-8B43-D9F5EC82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8006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async function executeDueJobs(summary) {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const due = await store.dueJobs(new Date(Date.now() - dueGraceMs));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const groups = groupBy(due, job =&gt; job.batchGroupId ?? job.jobId);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for (const jobs of groups.values()) {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await executeSignedJobs(jobs, summary);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await executeAgentJobs(jobs, summary);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4B84E-88F5-41AC-88D7-C4BB7513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5143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BB41A-DFB9-4FAA-97B6-E2F2BC14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B8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B8A7"/>
                </a:solidFill>
                <a:latin typeface="Aptos"/>
                <a:ea typeface="Aptos"/>
                <a:cs typeface="Aptos"/>
              </a:rPr>
              <a:t>State write after submission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C25C9-8530-4304-ADEA-4099A28E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4800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await store.updateJob(job.jobId, {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status: "SUBMITTED",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txHash: result.primaryTxHash,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submittedAt: new Date().toISOString(),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error: null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});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B979A-EAE0-44F3-A955-139FC1E1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5143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C09AF-5346-4A5C-8D41-5D3E9D53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19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C6C21-B0DA-4344-AD52-FFB9E315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419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batching decision is not just a UI feature. The worker forms execution sets from due jobs, chooses signed-call or Agent-call execution, then records tx hashes and receipt outcomes for metrics.</a:t>
            </a:r>
          </a:p>
        </p:txBody>
      </p:sp>
    </p:spTree>
    <p:extLst>
      <p:ext uri="{BB962C8B-B14F-4D97-AF65-F5344CB8AC3E}">
        <p14:creationId xmlns:p14="http://schemas.microsoft.com/office/powerpoint/2010/main" val="20072876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CCA6A2-1EF1-4DE1-9C39-047B1569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4ABEE-399D-4E7E-BECE-A2F44C31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7"/>
          </a:solidFill>
          <a:ln xmlns:a="http://schemas.openxmlformats.org/drawingml/2006/main" w="0">
            <a:solidFill>
              <a:srgbClr val="13B8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B01A5-E02C-4B89-81BB-6DECD0AA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CORE CONTRACT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80182-01B8-470E-BDB6-6580EAED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On-chain checks keep automated execution inside explicit user authorization.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05B03-DB37-422C-827E-24454E52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6C0C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6C0CE"/>
                </a:solidFill>
                <a:latin typeface="Aptos"/>
                <a:ea typeface="Aptos"/>
                <a:cs typeface="Aptos"/>
              </a:rPr>
              <a:t>AI-Powered On-Chain Agent Protocol | Demo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4F47F-4193-499E-A851-4F92B437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6C0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C0C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AA474-D01C-4AE0-AEF8-89CF18E7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8B42D-BBF0-406C-B957-567D362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B8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B8A7"/>
                </a:solidFill>
                <a:latin typeface="Aptos"/>
                <a:ea typeface="Aptos"/>
                <a:cs typeface="Aptos"/>
              </a:rPr>
              <a:t>AgentSmartAccount permission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932DC-59A2-42D2-8FEE-9379B29F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991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function _validateAgentPermission(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address agent,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address target,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uint256 value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) private view {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if (revokedAgents[agent]) revert AgentNotAuthorized();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if (revokedAgentTargets[agent][target]) revert TargetNotAllowed();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AgentPermission memory permission = agentTargetPermissions[agent][target];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if (!permission.active) permission = agentPermissions[agent];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if (!permission.active) revert AgentNotAuthorized();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if (permission.validUntil &lt; block.timestamp) revert AgentPermissionExpired();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if (permission.target != address(0) &amp;&amp; permission.target != target) revert TargetNotAllowed();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if (value &gt; permission.maxValue) revert ValueExceedsPermission();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D31DD-56FD-4C39-B59A-67B7EB66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5334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CCC36-171A-49E0-A575-CC2868D2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B8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B8A7"/>
                </a:solidFill>
                <a:latin typeface="Aptos"/>
                <a:ea typeface="Aptos"/>
                <a:cs typeface="Aptos"/>
              </a:rPr>
              <a:t>SignedIntentEscrow scheduled execution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93311-C5BD-43FD-B911-B595AE3D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4991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if (usedNonces[call_.nonce]) revert NonceAlreadyUsed();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if (block.timestamp &lt; call_.runAt) revert NotDue();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if (block.timestamp &gt; call_.deadline) revert SignatureExpired();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if (keccak256(data) != call_.dataHash) revert DataHashMismatch();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bytes32 digest = digestFor(call_);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if (SimpleECDSA.recover(digest, signature) != call_.owner)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revert InvalidSignature();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if (balances[call_.owner] &lt; call_.value)</a:t>
            </a:r>
          </a:p>
          <a:p xmlns:a="http://schemas.openxmlformats.org/drawingml/2006/main">
            <a:pPr algn="l">
              <a:def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revert InsufficientEscrowBalance();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F45A5-BCA9-4797-97DB-40743958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F55F5-4F7E-49A5-AC4C-C582438D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387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7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F3"/>
                </a:solidFill>
                <a:latin typeface="Aptos"/>
                <a:ea typeface="Aptos"/>
                <a:cs typeface="Aptos"/>
              </a:rPr>
              <a:t>Security boundary: AI never bypasses wallet authorization. It only proposes; EOA signatures, EIP-712 signatures, or Agent permissions decide execution.</a:t>
            </a:r>
          </a:p>
        </p:txBody>
      </p:sp>
    </p:spTree>
    <p:extLst>
      <p:ext uri="{BB962C8B-B14F-4D97-AF65-F5344CB8AC3E}">
        <p14:creationId xmlns:p14="http://schemas.microsoft.com/office/powerpoint/2010/main" val="4319932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91E955-23AB-442C-BBCE-39FA6495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A934C-6962-4309-A7B2-29DCE323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B1A13-2988-49A2-BA75-6539C337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54591-68F6-470C-A54C-A8CE769A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demo is backed by tests, gas benchmarks, and dashboard metrics.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E83EE-281B-452C-92DD-E7999A8A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AI-Powered On-Chain Agent Protocol | Demo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0DD50-6239-44C6-9E64-AE5F2302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550DC-C7E5-4116-815C-CD33C671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286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055B8-2D6A-4232-BF01-0F99F326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B8A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3B8A7"/>
                </a:solidFill>
                <a:latin typeface="Aptos Display"/>
                <a:ea typeface="Aptos Display"/>
                <a:cs typeface="Aptos Display"/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8D7C2-99EF-4BA7-9976-F68AF5C5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backend tests passing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E74B6-D885-46C8-A2D9-914555EA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 parser, coordinator, metrics, wallet prep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B18B2-5D4A-4DF9-9EDD-3647C461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62150"/>
            <a:ext cx="2286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22182-3737-458E-A046-A9A2B559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BCC2B-B466-4AF7-9723-F6F89AC5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Foundry tests passing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6A53A-D2D3-4E28-AB05-6063C1B6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registry, escrow, smart account, batching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78D9D-879F-4E05-90B7-C1B0F973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2286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196C0-EAF4-4A84-B66A-EC498E6D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80E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80ED"/>
                </a:solidFill>
                <a:latin typeface="Aptos Display"/>
                <a:ea typeface="Aptos Display"/>
                <a:cs typeface="Aptos Display"/>
              </a:rPr>
              <a:t>40 -&gt; 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A4CB9-8241-47FB-A407-408490E8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benchmark tx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2AD3E-E97B-40B1-AD05-77EA6191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80% fewer transactions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6FBB6-ABA0-4CDB-A46D-AEE523FF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62150"/>
            <a:ext cx="2286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55516-6938-47EE-8CE1-DE22B229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955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46.75%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EEF18-4883-44E7-8C79-9CFA29C7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estimated gas reduction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18B1B-932A-4CC3-B663-96DADE91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synthetic 40-intent benchmark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83B86-7EFD-4390-B6D3-6791B68E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476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F3EC6-9F8E-460F-9D05-0DD98B0A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Local-EVM gas benchmark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FFC62C-4650-463E-B946-4F684403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3581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Five authorized AgentSmartAccount ERC20 transfer intents were measured with setup/auth excluded and transaction envelope gas added for comparability.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76002-D52D-465C-9B94-B4AB7215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815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Result: 5 transactions collapsed to 1, comparable gas fell from 240,226 to 160,922.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FA72A7-4D28-401D-BBB4-5120B96A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4476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41BC9D-11C4-4B0A-81CD-492C2837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 proof points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D49023-4AE5-4E65-B2F0-1A7D8032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7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F3"/>
                </a:solidFill>
                <a:latin typeface="Aptos"/>
                <a:ea typeface="Aptos"/>
                <a:cs typeface="Aptos"/>
              </a:rPr>
              <a:t>Live metrics report coordinator jobs, success/failure rate, average batch size, throughput, latency, estimated no-batch gas, actual batch gas and aggregation match rate.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C0E06-7F92-4847-9267-953D17D1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958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C0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C0CE"/>
                </a:solidFill>
                <a:latin typeface="Aptos"/>
                <a:ea typeface="Aptos"/>
                <a:cs typeface="Aptos"/>
              </a:rPr>
              <a:t>Source: report/benchmark-results.json and /metrics API.</a:t>
            </a:r>
          </a:p>
        </p:txBody>
      </p:sp>
    </p:spTree>
    <p:extLst>
      <p:ext uri="{BB962C8B-B14F-4D97-AF65-F5344CB8AC3E}">
        <p14:creationId xmlns:p14="http://schemas.microsoft.com/office/powerpoint/2010/main" val="70939021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125A85-686D-4606-A9A8-3E309246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73286-D0F5-4EEE-92EA-45D403A4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D549E-DD72-4740-BDAE-1CE5BE77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DEMO RUNBOOK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2C2AF-12C1-4A86-B395-3B95BCF4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live walkthrough follows one clean path from prompt to observable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FC33D-CCD6-4FE0-81EA-6E66C73B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AI-Powered On-Chain Agent Protocol | Demo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8DCBE-12D4-49D3-9E9D-6680F608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EB7C0-706D-480A-9659-CB452187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D5CD5-8AA6-4DC0-BA19-57E1939B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80E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80E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AEDB8-DBC1-414C-9BCA-26AE54EC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28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1A602-6788-408E-9E1F-B36E4B65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146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backend npm start; frontend npm 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70729-AF84-4F26-BC92-E281190C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C053F-77D9-4042-9F88-2C14B319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765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4568B-FA6F-4D78-B9BA-C39701B5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DA741-CE20-433D-8167-9DF15155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B8A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3B8A7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54643-ACD5-45FA-9A88-CD5A5972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28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Connect wallet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3D2AA-F8B0-4E81-A53D-F16F28B9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146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EOA connects to Sepolia and backend status turns online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EEE5A-313B-4D39-B9A2-7B77537C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71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675AC-7199-4600-A230-BB59B3A8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765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E99D5-6936-4FB4-814C-5AFABCBA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383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ED32D-9CD9-4639-A880-62E69EA0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96606-6EA7-489C-8CFD-812D3611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Create intent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E27F30-5318-4DC1-B3C4-A6FFAEBD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 chat or template parses transfer / swap / rebalance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65B64-AEF5-4438-A741-09192276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D5788D-BB06-4FBE-BA9F-27C1EF1D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2F0794-BC89-427D-B45B-93E0FEC2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386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Authorize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D4C881-0FB1-405F-80A1-451E8A2D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2435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Wallet tx, EIP-712 signature, or Agent Wallet permission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484E87-9630-45AE-8111-F7F64E4E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815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D12C80-226B-40C7-82EA-23AF4740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862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09E9B9-3A13-4B75-9F07-A15E3D5D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48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3EE486-3D0B-4AD2-823E-52F6A575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19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80E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80ED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B119FE-5864-4CCD-9191-C78CAEEB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386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Execute batch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7CCD3F-E2E8-4AB2-9E7D-BF7AEA97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2435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Coordinator or Agent path submits transaction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AF71DC-C123-433B-9B08-B72A8B62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solidFill>
              <a:srgbClr val="5B647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23DC7A-3882-4351-AF73-DC193202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862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8AF3C8-CB1D-49E2-91ED-E5823373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A235B0-B669-4ABF-BE5D-45902E0A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19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B8A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3B8A7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25A871-5919-436E-92D7-977CF433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386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Show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47D5E6-E601-4CDD-AFA3-B2561D39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History, Etherscan link, dashboard metrics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D87E73-816F-4824-BF51-40AA35A7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EEF3D0-1DCB-44E3-968F-96313992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43550"/>
            <a:ext cx="714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Open local demo at http://localhost:5173; backend defaults to http://localhost:8787.</a:t>
            </a:r>
          </a:p>
        </p:txBody>
      </p:sp>
    </p:spTree>
    <p:extLst>
      <p:ext uri="{BB962C8B-B14F-4D97-AF65-F5344CB8AC3E}">
        <p14:creationId xmlns:p14="http://schemas.microsoft.com/office/powerpoint/2010/main" val="16678250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B4A090-29F7-47EE-B3F5-230A1FB5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F1A45-C8DB-4116-9D37-5C63B15A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B8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B8A7"/>
                </a:solidFill>
                <a:latin typeface="Aptos"/>
                <a:ea typeface="Aptos"/>
                <a:cs typeface="Aptos"/>
              </a:rPr>
              <a:t>DEMO VIDEO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2DE49-A429-49C1-A83A-521B9A7D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Insert the recorded walkthrough here.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CEFD3-2A13-4368-90BC-4CB611A6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3B4C2-DD51-47B9-A7FA-7F1FF75D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28575">
            <a:solidFill>
              <a:srgbClr val="13B8A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031F0-7684-4493-8308-C827DB74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528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B8A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B8A7"/>
                </a:solidFill>
                <a:latin typeface="Aptos"/>
                <a:ea typeface="Aptos"/>
                <a:cs typeface="Aptos"/>
              </a:rPr>
              <a:t>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94B86-E20D-42BA-B03B-FDFDED34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Placeholder for 2-4 minute demo video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D7008-3D19-468C-B63F-0E738148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6C0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C0CE"/>
                </a:solidFill>
                <a:latin typeface="Aptos"/>
                <a:ea typeface="Aptos"/>
                <a:cs typeface="Aptos"/>
              </a:rPr>
              <a:t>Suggested recording: connect wallet -&gt; parse intent -&gt; authorize -&gt; execute -&gt; show Etherscan/history -&gt; show dashboard metrics.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FAA72-AD6E-4CF3-B739-6CAE09E9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6C0C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6C0CE"/>
                </a:solidFill>
                <a:latin typeface="Aptos"/>
                <a:ea typeface="Aptos"/>
                <a:cs typeface="Aptos"/>
              </a:rPr>
              <a:t>AI-Powered On-Chain Agent Protocol | Demo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1E041-4962-4333-81DB-27253C8F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6C0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C0C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58155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2026-05-27T02:39:06.8570000Z</dcterms:created>
  <dcterms:modified xsi:type="dcterms:W3CDTF">2026-05-27T02:39:06.8570000Z</dcterms:modified>
</coreProperties>
</file>